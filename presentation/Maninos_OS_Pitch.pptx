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94415" cy="274320"/>
          </a:xfrm>
          <a:prstGeom prst="rect">
            <a:avLst/>
          </a:prstGeom>
          <a:noFill/>
        </p:spPr>
        <p:txBody>
          <a:bodyPr wrap="square" lIns="0" rIns="0" tIns="0" bIns="0" anchor="t">
            <a:spAutoFit/>
          </a:bodyPr>
          <a:lstStyle/>
          <a:p>
            <a:pPr algn="l">
              <a:lnSpc>
                <a:spcPct val="130000"/>
              </a:lnSpc>
            </a:pPr>
            <a:r>
              <a:rPr sz="900" b="1" i="0" spc="300">
                <a:solidFill>
                  <a:srgbClr val="8C95A8"/>
                </a:solidFill>
                <a:latin typeface="Calibri"/>
              </a:rPr>
              <a:t>MANINOS OS    ·    DOCUMENTO DESCRIPTIVO    ·    VERSIÓN 2026.04</a:t>
            </a:r>
          </a:p>
        </p:txBody>
      </p:sp>
      <p:sp>
        <p:nvSpPr>
          <p:cNvPr id="4" name="TextBox 3"/>
          <p:cNvSpPr txBox="1"/>
          <p:nvPr/>
        </p:nvSpPr>
        <p:spPr>
          <a:xfrm>
            <a:off x="548640" y="1828800"/>
            <a:ext cx="11094415" cy="2286000"/>
          </a:xfrm>
          <a:prstGeom prst="rect">
            <a:avLst/>
          </a:prstGeom>
          <a:noFill/>
        </p:spPr>
        <p:txBody>
          <a:bodyPr wrap="square" lIns="0" rIns="0" tIns="0" bIns="0" anchor="t">
            <a:spAutoFit/>
          </a:bodyPr>
          <a:lstStyle/>
          <a:p>
            <a:pPr algn="l">
              <a:lnSpc>
                <a:spcPct val="105000"/>
              </a:lnSpc>
            </a:pPr>
            <a:r>
              <a:rPr sz="5400" b="0" i="0">
                <a:solidFill>
                  <a:srgbClr val="EEF0F4"/>
                </a:solidFill>
                <a:latin typeface="Georgia"/>
              </a:rPr>
              <a:t>Una plataforma operativa
para vender mobile homes,</a:t>
            </a:r>
          </a:p>
        </p:txBody>
      </p:sp>
      <p:sp>
        <p:nvSpPr>
          <p:cNvPr id="5" name="TextBox 4"/>
          <p:cNvSpPr txBox="1"/>
          <p:nvPr/>
        </p:nvSpPr>
        <p:spPr>
          <a:xfrm>
            <a:off x="548640" y="3383280"/>
            <a:ext cx="11094415" cy="914400"/>
          </a:xfrm>
          <a:prstGeom prst="rect">
            <a:avLst/>
          </a:prstGeom>
          <a:noFill/>
        </p:spPr>
        <p:txBody>
          <a:bodyPr wrap="square" lIns="0" rIns="0" tIns="0" bIns="0" anchor="t">
            <a:spAutoFit/>
          </a:bodyPr>
          <a:lstStyle/>
          <a:p>
            <a:pPr algn="l">
              <a:lnSpc>
                <a:spcPct val="105000"/>
              </a:lnSpc>
            </a:pPr>
            <a:r>
              <a:rPr sz="5400" b="0" i="1">
                <a:solidFill>
                  <a:srgbClr val="C9A047"/>
                </a:solidFill>
                <a:latin typeface="Georgia"/>
              </a:rPr>
              <a:t>de extremo a extremo.</a:t>
            </a:r>
          </a:p>
        </p:txBody>
      </p:sp>
      <p:sp>
        <p:nvSpPr>
          <p:cNvPr id="6" name="TextBox 5"/>
          <p:cNvSpPr txBox="1"/>
          <p:nvPr/>
        </p:nvSpPr>
        <p:spPr>
          <a:xfrm>
            <a:off x="548640" y="4572000"/>
            <a:ext cx="7315200" cy="914400"/>
          </a:xfrm>
          <a:prstGeom prst="rect">
            <a:avLst/>
          </a:prstGeom>
          <a:noFill/>
        </p:spPr>
        <p:txBody>
          <a:bodyPr wrap="square" lIns="0" rIns="0" tIns="0" bIns="0" anchor="t">
            <a:spAutoFit/>
          </a:bodyPr>
          <a:lstStyle/>
          <a:p>
            <a:pPr algn="l">
              <a:lnSpc>
                <a:spcPct val="140000"/>
              </a:lnSpc>
            </a:pPr>
            <a:r>
              <a:rPr sz="1800" b="0" i="0">
                <a:solidFill>
                  <a:srgbClr val="C7CDD8"/>
                </a:solidFill>
                <a:latin typeface="Georgia"/>
              </a:rPr>
              <a:t>Cómo está construida, qué resuelve, y por qué su arquitectura admite
otros activos físicos con el mismo patrón de negocio.</a:t>
            </a:r>
          </a:p>
        </p:txBody>
      </p:sp>
      <p:sp>
        <p:nvSpPr>
          <p:cNvPr id="7" name="TextBox 6"/>
          <p:cNvSpPr txBox="1"/>
          <p:nvPr/>
        </p:nvSpPr>
        <p:spPr>
          <a:xfrm>
            <a:off x="548640" y="6217920"/>
            <a:ext cx="7315200" cy="274320"/>
          </a:xfrm>
          <a:prstGeom prst="rect">
            <a:avLst/>
          </a:prstGeom>
          <a:noFill/>
        </p:spPr>
        <p:txBody>
          <a:bodyPr wrap="square" lIns="0" rIns="0" tIns="0" bIns="0" anchor="t">
            <a:spAutoFit/>
          </a:bodyPr>
          <a:lstStyle/>
          <a:p>
            <a:pPr algn="l">
              <a:lnSpc>
                <a:spcPct val="130000"/>
              </a:lnSpc>
            </a:pPr>
            <a:r>
              <a:rPr sz="800" b="1" i="0" spc="250">
                <a:solidFill>
                  <a:srgbClr val="5A6478"/>
                </a:solidFill>
                <a:latin typeface="Calibri"/>
              </a:rPr>
              <a:t>MANINOS HOMES LLC  ·  MANINOS CAPITAL LLC</a:t>
            </a:r>
          </a:p>
        </p:txBody>
      </p:sp>
      <p:sp>
        <p:nvSpPr>
          <p:cNvPr id="8" name="TextBox 7"/>
          <p:cNvSpPr txBox="1"/>
          <p:nvPr/>
        </p:nvSpPr>
        <p:spPr>
          <a:xfrm>
            <a:off x="548640" y="6217920"/>
            <a:ext cx="11094415" cy="274320"/>
          </a:xfrm>
          <a:prstGeom prst="rect">
            <a:avLst/>
          </a:prstGeom>
          <a:noFill/>
        </p:spPr>
        <p:txBody>
          <a:bodyPr wrap="square" lIns="0" rIns="0" tIns="0" bIns="0" anchor="t">
            <a:spAutoFit/>
          </a:bodyPr>
          <a:lstStyle/>
          <a:p>
            <a:pPr algn="r">
              <a:lnSpc>
                <a:spcPct val="130000"/>
              </a:lnSpc>
            </a:pPr>
            <a:r>
              <a:rPr sz="800" b="1" i="0" spc="250">
                <a:solidFill>
                  <a:srgbClr val="5A6478"/>
                </a:solidFill>
                <a:latin typeface="Calibri"/>
              </a:rPr>
              <a:t>TEXAS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274320"/>
          </a:xfrm>
          <a:prstGeom prst="rect">
            <a:avLst/>
          </a:prstGeom>
          <a:noFill/>
        </p:spPr>
        <p:txBody>
          <a:bodyPr wrap="square" lIns="0" rIns="0" tIns="0" bIns="0" anchor="t">
            <a:spAutoFit/>
          </a:bodyPr>
          <a:lstStyle/>
          <a:p>
            <a:pPr algn="l">
              <a:lnSpc>
                <a:spcPct val="130000"/>
              </a:lnSpc>
            </a:pPr>
            <a:r>
              <a:rPr sz="900" b="1" i="0" spc="250">
                <a:solidFill>
                  <a:srgbClr val="C9A047"/>
                </a:solidFill>
                <a:latin typeface="Calibri"/>
              </a:rPr>
              <a:t>DEFINICIÓN</a:t>
            </a:r>
          </a:p>
        </p:txBody>
      </p:sp>
      <p:sp>
        <p:nvSpPr>
          <p:cNvPr id="4" name="TextBox 3"/>
          <p:cNvSpPr txBox="1"/>
          <p:nvPr/>
        </p:nvSpPr>
        <p:spPr>
          <a:xfrm>
            <a:off x="548640" y="685800"/>
            <a:ext cx="11094415" cy="822960"/>
          </a:xfrm>
          <a:prstGeom prst="rect">
            <a:avLst/>
          </a:prstGeom>
          <a:noFill/>
        </p:spPr>
        <p:txBody>
          <a:bodyPr wrap="square" lIns="0" rIns="0" tIns="0" bIns="0" anchor="t">
            <a:spAutoFit/>
          </a:bodyPr>
          <a:lstStyle/>
          <a:p>
            <a:pPr algn="l">
              <a:lnSpc>
                <a:spcPct val="130000"/>
              </a:lnSpc>
            </a:pPr>
            <a:r>
              <a:rPr sz="3600" b="0" i="0">
                <a:solidFill>
                  <a:srgbClr val="EEF0F4"/>
                </a:solidFill>
                <a:latin typeface="Georgia"/>
              </a:rPr>
              <a:t>Qué es Maninos OS</a:t>
            </a:r>
          </a:p>
        </p:txBody>
      </p:sp>
      <p:sp>
        <p:nvSpPr>
          <p:cNvPr id="5" name="TextBox 4"/>
          <p:cNvSpPr txBox="1"/>
          <p:nvPr/>
        </p:nvSpPr>
        <p:spPr>
          <a:xfrm>
            <a:off x="548640" y="1828800"/>
            <a:ext cx="10515600" cy="1828800"/>
          </a:xfrm>
          <a:prstGeom prst="rect">
            <a:avLst/>
          </a:prstGeom>
          <a:noFill/>
        </p:spPr>
        <p:txBody>
          <a:bodyPr wrap="square" lIns="0" rIns="0" tIns="0" bIns="0" anchor="t">
            <a:spAutoFit/>
          </a:bodyPr>
          <a:lstStyle/>
          <a:p>
            <a:pPr algn="l">
              <a:lnSpc>
                <a:spcPct val="140000"/>
              </a:lnSpc>
            </a:pPr>
            <a:r>
              <a:rPr sz="1700" b="0" i="0">
                <a:solidFill>
                  <a:srgbClr val="EEF0F4"/>
                </a:solidFill>
                <a:latin typeface="Georgia"/>
              </a:rPr>
              <a:t>Es la plataforma de software propietaria que opera Maninos Homes LLC y Maninos Capital LLC. Cubre el ciclo completo de un activo: localización en el mercado, compra, renovación, listado, venta, financiamiento propio (RTO o contado), gestión de pagos recurrentes, transferencia de título y reporte a inversores.</a:t>
            </a:r>
          </a:p>
        </p:txBody>
      </p:sp>
      <p:cxnSp>
        <p:nvCxnSpPr>
          <p:cNvPr id="6" name="Connector 5"/>
          <p:cNvCxnSpPr/>
          <p:nvPr/>
        </p:nvCxnSpPr>
        <p:spPr>
          <a:xfrm>
            <a:off x="548640" y="3749039"/>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402336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LO QUE REEMPLAZA</a:t>
            </a:r>
          </a:p>
        </p:txBody>
      </p:sp>
      <p:sp>
        <p:nvSpPr>
          <p:cNvPr id="8" name="TextBox 7"/>
          <p:cNvSpPr txBox="1"/>
          <p:nvPr/>
        </p:nvSpPr>
        <p:spPr>
          <a:xfrm>
            <a:off x="548640" y="4343400"/>
            <a:ext cx="5272887" cy="27432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Hojas de cálculo y grupos de WhatsApp para inventario y renovación</a:t>
            </a:r>
          </a:p>
        </p:txBody>
      </p:sp>
      <p:sp>
        <p:nvSpPr>
          <p:cNvPr id="9" name="TextBox 8"/>
          <p:cNvSpPr txBox="1"/>
          <p:nvPr/>
        </p:nvSpPr>
        <p:spPr>
          <a:xfrm>
            <a:off x="548640" y="4663440"/>
            <a:ext cx="5272887" cy="27432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 CRM genérico para clientes y leads</a:t>
            </a:r>
          </a:p>
        </p:txBody>
      </p:sp>
      <p:sp>
        <p:nvSpPr>
          <p:cNvPr id="10" name="TextBox 9"/>
          <p:cNvSpPr txBox="1"/>
          <p:nvPr/>
        </p:nvSpPr>
        <p:spPr>
          <a:xfrm>
            <a:off x="548640" y="4956048"/>
            <a:ext cx="5272887" cy="27432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 sistema de contabilidad externo</a:t>
            </a:r>
          </a:p>
        </p:txBody>
      </p:sp>
      <p:sp>
        <p:nvSpPr>
          <p:cNvPr id="11" name="TextBox 10"/>
          <p:cNvSpPr txBox="1"/>
          <p:nvPr/>
        </p:nvSpPr>
        <p:spPr>
          <a:xfrm>
            <a:off x="548640" y="5248656"/>
            <a:ext cx="5272887" cy="27432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 proceso manual de transferencia de título estatal</a:t>
            </a:r>
          </a:p>
        </p:txBody>
      </p:sp>
      <p:sp>
        <p:nvSpPr>
          <p:cNvPr id="12" name="TextBox 11"/>
          <p:cNvSpPr txBox="1"/>
          <p:nvPr/>
        </p:nvSpPr>
        <p:spPr>
          <a:xfrm>
            <a:off x="548640" y="5541264"/>
            <a:ext cx="5272887" cy="27432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Una hoja paralela para tracking de inversores y mora</a:t>
            </a:r>
          </a:p>
        </p:txBody>
      </p:sp>
      <p:sp>
        <p:nvSpPr>
          <p:cNvPr id="13" name="TextBox 12"/>
          <p:cNvSpPr txBox="1"/>
          <p:nvPr/>
        </p:nvSpPr>
        <p:spPr>
          <a:xfrm>
            <a:off x="6370167" y="402336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LO QUE AÑADE QUE NO EXISTE EN OTRA PARTE</a:t>
            </a:r>
          </a:p>
        </p:txBody>
      </p:sp>
      <p:sp>
        <p:nvSpPr>
          <p:cNvPr id="14" name="TextBox 13"/>
          <p:cNvSpPr txBox="1"/>
          <p:nvPr/>
        </p:nvSpPr>
        <p:spPr>
          <a:xfrm>
            <a:off x="6370167" y="4343400"/>
            <a:ext cx="5272887" cy="45720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Seis agentes de IA especializados, integrados en los flujos de trabajo</a:t>
            </a:r>
          </a:p>
        </p:txBody>
      </p:sp>
      <p:sp>
        <p:nvSpPr>
          <p:cNvPr id="15" name="TextBox 14"/>
          <p:cNvSpPr txBox="1"/>
          <p:nvPr/>
        </p:nvSpPr>
        <p:spPr>
          <a:xfrm>
            <a:off x="6370167" y="4709160"/>
            <a:ext cx="5272887" cy="45720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 módulo de financiamiento propio (RTO) con su propia contabilidad</a:t>
            </a:r>
          </a:p>
        </p:txBody>
      </p:sp>
      <p:sp>
        <p:nvSpPr>
          <p:cNvPr id="16" name="TextBox 15"/>
          <p:cNvSpPr txBox="1"/>
          <p:nvPr/>
        </p:nvSpPr>
        <p:spPr>
          <a:xfrm>
            <a:off x="6370167" y="5074920"/>
            <a:ext cx="5272887" cy="45720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 portal público para el cliente final con simulador, KYC, firma y autoservicio de pagos</a:t>
            </a:r>
          </a:p>
        </p:txBody>
      </p:sp>
      <p:sp>
        <p:nvSpPr>
          <p:cNvPr id="17" name="TextBox 16"/>
          <p:cNvSpPr txBox="1"/>
          <p:nvPr/>
        </p:nvSpPr>
        <p:spPr>
          <a:xfrm>
            <a:off x="6370167" y="5440680"/>
            <a:ext cx="5272887" cy="45720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  Un módulo separado para gestión de capital de inversores privados</a:t>
            </a:r>
          </a:p>
        </p:txBody>
      </p:sp>
      <p:sp>
        <p:nvSpPr>
          <p:cNvPr id="18" name="TextBox 17"/>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01  ·  DEFINICIÓN</a:t>
            </a:r>
          </a:p>
        </p:txBody>
      </p:sp>
      <p:sp>
        <p:nvSpPr>
          <p:cNvPr id="19" name="TextBox 18"/>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MANINOS 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La forma del sistema</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ARQUITECTURA</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25880"/>
            <a:ext cx="10515600" cy="822960"/>
          </a:xfrm>
          <a:prstGeom prst="rect">
            <a:avLst/>
          </a:prstGeom>
          <a:noFill/>
        </p:spPr>
        <p:txBody>
          <a:bodyPr wrap="square" lIns="0" rIns="0" tIns="0" bIns="0" anchor="t">
            <a:spAutoFit/>
          </a:bodyPr>
          <a:lstStyle/>
          <a:p>
            <a:pPr algn="l">
              <a:lnSpc>
                <a:spcPct val="140000"/>
              </a:lnSpc>
            </a:pPr>
            <a:r>
              <a:rPr sz="1500" b="0" i="0">
                <a:solidFill>
                  <a:srgbClr val="EEF0F4"/>
                </a:solidFill>
                <a:latin typeface="Georgia"/>
              </a:rPr>
              <a:t>Tres portales que comparten una sola base de datos Postgres. No hay sincronización ni jobs de réplica entre ellos: lo que ocurre en operaciones se ve al instante en finanzas y en la cuenta del cliente.</a:t>
            </a:r>
          </a:p>
        </p:txBody>
      </p:sp>
      <p:cxnSp>
        <p:nvCxnSpPr>
          <p:cNvPr id="7" name="Connector 6"/>
          <p:cNvCxnSpPr/>
          <p:nvPr/>
        </p:nvCxnSpPr>
        <p:spPr>
          <a:xfrm>
            <a:off x="548640.0" y="2651760"/>
            <a:ext cx="3454298.333333333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48640" y="2788920"/>
            <a:ext cx="3454298"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PORTAL 01</a:t>
            </a:r>
          </a:p>
        </p:txBody>
      </p:sp>
      <p:sp>
        <p:nvSpPr>
          <p:cNvPr id="9" name="TextBox 8"/>
          <p:cNvSpPr txBox="1"/>
          <p:nvPr/>
        </p:nvSpPr>
        <p:spPr>
          <a:xfrm>
            <a:off x="548640" y="3108960"/>
            <a:ext cx="3454298" cy="548640"/>
          </a:xfrm>
          <a:prstGeom prst="rect">
            <a:avLst/>
          </a:prstGeom>
          <a:noFill/>
        </p:spPr>
        <p:txBody>
          <a:bodyPr wrap="square" lIns="0" rIns="0" tIns="0" bIns="0" anchor="t">
            <a:spAutoFit/>
          </a:bodyPr>
          <a:lstStyle/>
          <a:p>
            <a:pPr algn="l">
              <a:lnSpc>
                <a:spcPct val="130000"/>
              </a:lnSpc>
            </a:pPr>
            <a:r>
              <a:rPr sz="2200" b="0" i="0">
                <a:solidFill>
                  <a:srgbClr val="EEF0F4"/>
                </a:solidFill>
                <a:latin typeface="Georgia"/>
              </a:rPr>
              <a:t>Homes</a:t>
            </a:r>
          </a:p>
        </p:txBody>
      </p:sp>
      <p:sp>
        <p:nvSpPr>
          <p:cNvPr id="10" name="TextBox 9"/>
          <p:cNvSpPr txBox="1"/>
          <p:nvPr/>
        </p:nvSpPr>
        <p:spPr>
          <a:xfrm>
            <a:off x="548640" y="3611880"/>
            <a:ext cx="3454298" cy="274320"/>
          </a:xfrm>
          <a:prstGeom prst="rect">
            <a:avLst/>
          </a:prstGeom>
          <a:noFill/>
        </p:spPr>
        <p:txBody>
          <a:bodyPr wrap="square" lIns="0" rIns="0" tIns="0" bIns="0" anchor="t">
            <a:spAutoFit/>
          </a:bodyPr>
          <a:lstStyle/>
          <a:p>
            <a:pPr algn="l">
              <a:lnSpc>
                <a:spcPct val="130000"/>
              </a:lnSpc>
            </a:pPr>
            <a:r>
              <a:rPr sz="800" b="1" i="0" spc="200">
                <a:solidFill>
                  <a:srgbClr val="8C95A8"/>
                </a:solidFill>
                <a:latin typeface="Calibri"/>
              </a:rPr>
              <a:t>OPERACIONES INTERNAS</a:t>
            </a:r>
          </a:p>
        </p:txBody>
      </p:sp>
      <p:sp>
        <p:nvSpPr>
          <p:cNvPr id="11" name="TextBox 10"/>
          <p:cNvSpPr txBox="1"/>
          <p:nvPr/>
        </p:nvSpPr>
        <p:spPr>
          <a:xfrm>
            <a:off x="548640" y="3931920"/>
            <a:ext cx="3454298" cy="1828800"/>
          </a:xfrm>
          <a:prstGeom prst="rect">
            <a:avLst/>
          </a:prstGeom>
          <a:noFill/>
        </p:spPr>
        <p:txBody>
          <a:bodyPr wrap="square" lIns="0" rIns="0" tIns="0" bIns="0" anchor="t">
            <a:spAutoFit/>
          </a:bodyPr>
          <a:lstStyle/>
          <a:p>
            <a:pPr algn="l">
              <a:lnSpc>
                <a:spcPct val="150000"/>
              </a:lnSpc>
            </a:pPr>
            <a:r>
              <a:rPr sz="1050" b="0" i="0">
                <a:solidFill>
                  <a:srgbClr val="C7CDD8"/>
                </a:solidFill>
                <a:latin typeface="Calibri"/>
              </a:rPr>
              <a:t>Para el equipo de Maninos. Inventario, renovación, fotos, contabilidad, comisiones, títulos, dashboards. Acceso por rol: treasury, operations, yard_manager, admin, comprador, vendedor.</a:t>
            </a:r>
          </a:p>
        </p:txBody>
      </p:sp>
      <p:cxnSp>
        <p:nvCxnSpPr>
          <p:cNvPr id="12" name="Connector 11"/>
          <p:cNvCxnSpPr/>
          <p:nvPr/>
        </p:nvCxnSpPr>
        <p:spPr>
          <a:xfrm>
            <a:off x="4368698.333333334" y="2651760"/>
            <a:ext cx="3454298.333333334"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68698" y="2788920"/>
            <a:ext cx="3454298"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PORTAL 02</a:t>
            </a:r>
          </a:p>
        </p:txBody>
      </p:sp>
      <p:sp>
        <p:nvSpPr>
          <p:cNvPr id="14" name="TextBox 13"/>
          <p:cNvSpPr txBox="1"/>
          <p:nvPr/>
        </p:nvSpPr>
        <p:spPr>
          <a:xfrm>
            <a:off x="4368698" y="3108960"/>
            <a:ext cx="3454298" cy="548640"/>
          </a:xfrm>
          <a:prstGeom prst="rect">
            <a:avLst/>
          </a:prstGeom>
          <a:noFill/>
        </p:spPr>
        <p:txBody>
          <a:bodyPr wrap="square" lIns="0" rIns="0" tIns="0" bIns="0" anchor="t">
            <a:spAutoFit/>
          </a:bodyPr>
          <a:lstStyle/>
          <a:p>
            <a:pPr algn="l">
              <a:lnSpc>
                <a:spcPct val="130000"/>
              </a:lnSpc>
            </a:pPr>
            <a:r>
              <a:rPr sz="2200" b="0" i="0">
                <a:solidFill>
                  <a:srgbClr val="EEF0F4"/>
                </a:solidFill>
                <a:latin typeface="Georgia"/>
              </a:rPr>
              <a:t>Capital</a:t>
            </a:r>
          </a:p>
        </p:txBody>
      </p:sp>
      <p:sp>
        <p:nvSpPr>
          <p:cNvPr id="15" name="TextBox 14"/>
          <p:cNvSpPr txBox="1"/>
          <p:nvPr/>
        </p:nvSpPr>
        <p:spPr>
          <a:xfrm>
            <a:off x="4368698" y="3611880"/>
            <a:ext cx="3454298" cy="274320"/>
          </a:xfrm>
          <a:prstGeom prst="rect">
            <a:avLst/>
          </a:prstGeom>
          <a:noFill/>
        </p:spPr>
        <p:txBody>
          <a:bodyPr wrap="square" lIns="0" rIns="0" tIns="0" bIns="0" anchor="t">
            <a:spAutoFit/>
          </a:bodyPr>
          <a:lstStyle/>
          <a:p>
            <a:pPr algn="l">
              <a:lnSpc>
                <a:spcPct val="130000"/>
              </a:lnSpc>
            </a:pPr>
            <a:r>
              <a:rPr sz="800" b="1" i="0" spc="200">
                <a:solidFill>
                  <a:srgbClr val="8C95A8"/>
                </a:solidFill>
                <a:latin typeface="Calibri"/>
              </a:rPr>
              <a:t>FINANCIAMIENTO E INVERSORES</a:t>
            </a:r>
          </a:p>
        </p:txBody>
      </p:sp>
      <p:sp>
        <p:nvSpPr>
          <p:cNvPr id="16" name="TextBox 15"/>
          <p:cNvSpPr txBox="1"/>
          <p:nvPr/>
        </p:nvSpPr>
        <p:spPr>
          <a:xfrm>
            <a:off x="4368698" y="3931920"/>
            <a:ext cx="3454298" cy="1828800"/>
          </a:xfrm>
          <a:prstGeom prst="rect">
            <a:avLst/>
          </a:prstGeom>
          <a:noFill/>
        </p:spPr>
        <p:txBody>
          <a:bodyPr wrap="square" lIns="0" rIns="0" tIns="0" bIns="0" anchor="t">
            <a:spAutoFit/>
          </a:bodyPr>
          <a:lstStyle/>
          <a:p>
            <a:pPr algn="l">
              <a:lnSpc>
                <a:spcPct val="150000"/>
              </a:lnSpc>
            </a:pPr>
            <a:r>
              <a:rPr sz="1050" b="0" i="0">
                <a:solidFill>
                  <a:srgbClr val="C7CDD8"/>
                </a:solidFill>
                <a:latin typeface="Calibri"/>
              </a:rPr>
              <a:t>Para underwriters y partners financieros. Solicitudes RTO, contratos de arrendamiento con opción a compra, pagos mensuales, mora, KYC, capital de inversores, promissory notes, reportes mensuales.</a:t>
            </a:r>
          </a:p>
        </p:txBody>
      </p:sp>
      <p:cxnSp>
        <p:nvCxnSpPr>
          <p:cNvPr id="17" name="Connector 16"/>
          <p:cNvCxnSpPr/>
          <p:nvPr/>
        </p:nvCxnSpPr>
        <p:spPr>
          <a:xfrm>
            <a:off x="8188756.666666667" y="2651760"/>
            <a:ext cx="3454298.333333333"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188756" y="2788920"/>
            <a:ext cx="3454298"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PORTAL 03</a:t>
            </a:r>
          </a:p>
        </p:txBody>
      </p:sp>
      <p:sp>
        <p:nvSpPr>
          <p:cNvPr id="19" name="TextBox 18"/>
          <p:cNvSpPr txBox="1"/>
          <p:nvPr/>
        </p:nvSpPr>
        <p:spPr>
          <a:xfrm>
            <a:off x="8188756" y="3108960"/>
            <a:ext cx="3454298" cy="548640"/>
          </a:xfrm>
          <a:prstGeom prst="rect">
            <a:avLst/>
          </a:prstGeom>
          <a:noFill/>
        </p:spPr>
        <p:txBody>
          <a:bodyPr wrap="square" lIns="0" rIns="0" tIns="0" bIns="0" anchor="t">
            <a:spAutoFit/>
          </a:bodyPr>
          <a:lstStyle/>
          <a:p>
            <a:pPr algn="l">
              <a:lnSpc>
                <a:spcPct val="130000"/>
              </a:lnSpc>
            </a:pPr>
            <a:r>
              <a:rPr sz="2200" b="0" i="0">
                <a:solidFill>
                  <a:srgbClr val="EEF0F4"/>
                </a:solidFill>
                <a:latin typeface="Georgia"/>
              </a:rPr>
              <a:t>Clientes</a:t>
            </a:r>
          </a:p>
        </p:txBody>
      </p:sp>
      <p:sp>
        <p:nvSpPr>
          <p:cNvPr id="20" name="TextBox 19"/>
          <p:cNvSpPr txBox="1"/>
          <p:nvPr/>
        </p:nvSpPr>
        <p:spPr>
          <a:xfrm>
            <a:off x="8188756" y="3611880"/>
            <a:ext cx="3454298" cy="274320"/>
          </a:xfrm>
          <a:prstGeom prst="rect">
            <a:avLst/>
          </a:prstGeom>
          <a:noFill/>
        </p:spPr>
        <p:txBody>
          <a:bodyPr wrap="square" lIns="0" rIns="0" tIns="0" bIns="0" anchor="t">
            <a:spAutoFit/>
          </a:bodyPr>
          <a:lstStyle/>
          <a:p>
            <a:pPr algn="l">
              <a:lnSpc>
                <a:spcPct val="130000"/>
              </a:lnSpc>
            </a:pPr>
            <a:r>
              <a:rPr sz="800" b="1" i="0" spc="200">
                <a:solidFill>
                  <a:srgbClr val="8C95A8"/>
                </a:solidFill>
                <a:latin typeface="Calibri"/>
              </a:rPr>
              <a:t>CARA PÚBLICA Y AUTOSERVICIO</a:t>
            </a:r>
          </a:p>
        </p:txBody>
      </p:sp>
      <p:sp>
        <p:nvSpPr>
          <p:cNvPr id="21" name="TextBox 20"/>
          <p:cNvSpPr txBox="1"/>
          <p:nvPr/>
        </p:nvSpPr>
        <p:spPr>
          <a:xfrm>
            <a:off x="8188756" y="3931920"/>
            <a:ext cx="3454298" cy="1828800"/>
          </a:xfrm>
          <a:prstGeom prst="rect">
            <a:avLst/>
          </a:prstGeom>
          <a:noFill/>
        </p:spPr>
        <p:txBody>
          <a:bodyPr wrap="square" lIns="0" rIns="0" tIns="0" bIns="0" anchor="t">
            <a:spAutoFit/>
          </a:bodyPr>
          <a:lstStyle/>
          <a:p>
            <a:pPr algn="l">
              <a:lnSpc>
                <a:spcPct val="150000"/>
              </a:lnSpc>
            </a:pPr>
            <a:r>
              <a:rPr sz="1050" b="0" i="0">
                <a:solidFill>
                  <a:srgbClr val="C7CDD8"/>
                </a:solidFill>
                <a:latin typeface="Calibri"/>
              </a:rPr>
              <a:t>Para el comprador. Catálogo público, simulador de RTO, solicitud de crédito, KYC con subida de documentos, firma electrónica del contrato, estado de cuenta y reporte de pagos.</a:t>
            </a:r>
          </a:p>
        </p:txBody>
      </p:sp>
      <p:cxnSp>
        <p:nvCxnSpPr>
          <p:cNvPr id="22" name="Connector 21"/>
          <p:cNvCxnSpPr/>
          <p:nvPr/>
        </p:nvCxnSpPr>
        <p:spPr>
          <a:xfrm>
            <a:off x="548640" y="544068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48640" y="60807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4360" y="5532120"/>
            <a:ext cx="2218883" cy="411480"/>
          </a:xfrm>
          <a:prstGeom prst="rect">
            <a:avLst/>
          </a:prstGeom>
          <a:noFill/>
        </p:spPr>
        <p:txBody>
          <a:bodyPr wrap="square" lIns="0" rIns="0" tIns="0" bIns="0" anchor="t">
            <a:spAutoFit/>
          </a:bodyPr>
          <a:lstStyle/>
          <a:p>
            <a:pPr algn="l">
              <a:lnSpc>
                <a:spcPct val="130000"/>
              </a:lnSpc>
            </a:pPr>
            <a:r>
              <a:rPr sz="2400" b="0" i="0">
                <a:solidFill>
                  <a:srgbClr val="EEF0F4"/>
                </a:solidFill>
                <a:latin typeface="Georgia"/>
              </a:rPr>
              <a:t>18</a:t>
            </a:r>
          </a:p>
        </p:txBody>
      </p:sp>
      <p:sp>
        <p:nvSpPr>
          <p:cNvPr id="25" name="TextBox 24"/>
          <p:cNvSpPr txBox="1"/>
          <p:nvPr/>
        </p:nvSpPr>
        <p:spPr>
          <a:xfrm>
            <a:off x="594360" y="5897880"/>
            <a:ext cx="2218883" cy="182880"/>
          </a:xfrm>
          <a:prstGeom prst="rect">
            <a:avLst/>
          </a:prstGeom>
          <a:noFill/>
        </p:spPr>
        <p:txBody>
          <a:bodyPr wrap="square" lIns="0" rIns="0" tIns="0" bIns="0" anchor="t">
            <a:spAutoFit/>
          </a:bodyPr>
          <a:lstStyle/>
          <a:p>
            <a:pPr algn="l">
              <a:lnSpc>
                <a:spcPct val="130000"/>
              </a:lnSpc>
            </a:pPr>
            <a:r>
              <a:rPr sz="700" b="1" i="0" spc="150">
                <a:solidFill>
                  <a:srgbClr val="8C95A8"/>
                </a:solidFill>
                <a:latin typeface="Calibri"/>
              </a:rPr>
              <a:t>PÁGINAS EN HOMES</a:t>
            </a:r>
          </a:p>
        </p:txBody>
      </p:sp>
      <p:cxnSp>
        <p:nvCxnSpPr>
          <p:cNvPr id="26" name="Connector 25"/>
          <p:cNvCxnSpPr/>
          <p:nvPr/>
        </p:nvCxnSpPr>
        <p:spPr>
          <a:xfrm>
            <a:off x="2767523.0" y="5486400"/>
            <a:ext cx="0.0" cy="5943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13243" y="5532120"/>
            <a:ext cx="2218883" cy="411480"/>
          </a:xfrm>
          <a:prstGeom prst="rect">
            <a:avLst/>
          </a:prstGeom>
          <a:noFill/>
        </p:spPr>
        <p:txBody>
          <a:bodyPr wrap="square" lIns="0" rIns="0" tIns="0" bIns="0" anchor="t">
            <a:spAutoFit/>
          </a:bodyPr>
          <a:lstStyle/>
          <a:p>
            <a:pPr algn="l">
              <a:lnSpc>
                <a:spcPct val="130000"/>
              </a:lnSpc>
            </a:pPr>
            <a:r>
              <a:rPr sz="2400" b="0" i="0">
                <a:solidFill>
                  <a:srgbClr val="EEF0F4"/>
                </a:solidFill>
                <a:latin typeface="Georgia"/>
              </a:rPr>
              <a:t>19</a:t>
            </a:r>
          </a:p>
        </p:txBody>
      </p:sp>
      <p:sp>
        <p:nvSpPr>
          <p:cNvPr id="28" name="TextBox 27"/>
          <p:cNvSpPr txBox="1"/>
          <p:nvPr/>
        </p:nvSpPr>
        <p:spPr>
          <a:xfrm>
            <a:off x="2813243" y="5897880"/>
            <a:ext cx="2218883" cy="182880"/>
          </a:xfrm>
          <a:prstGeom prst="rect">
            <a:avLst/>
          </a:prstGeom>
          <a:noFill/>
        </p:spPr>
        <p:txBody>
          <a:bodyPr wrap="square" lIns="0" rIns="0" tIns="0" bIns="0" anchor="t">
            <a:spAutoFit/>
          </a:bodyPr>
          <a:lstStyle/>
          <a:p>
            <a:pPr algn="l">
              <a:lnSpc>
                <a:spcPct val="130000"/>
              </a:lnSpc>
            </a:pPr>
            <a:r>
              <a:rPr sz="700" b="1" i="0" spc="150">
                <a:solidFill>
                  <a:srgbClr val="8C95A8"/>
                </a:solidFill>
                <a:latin typeface="Calibri"/>
              </a:rPr>
              <a:t>PÁGINAS EN CAPITAL</a:t>
            </a:r>
          </a:p>
        </p:txBody>
      </p:sp>
      <p:cxnSp>
        <p:nvCxnSpPr>
          <p:cNvPr id="29" name="Connector 28"/>
          <p:cNvCxnSpPr/>
          <p:nvPr/>
        </p:nvCxnSpPr>
        <p:spPr>
          <a:xfrm>
            <a:off x="4986406.0" y="5486400"/>
            <a:ext cx="0.0" cy="5943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032126" y="5532120"/>
            <a:ext cx="2218883" cy="411480"/>
          </a:xfrm>
          <a:prstGeom prst="rect">
            <a:avLst/>
          </a:prstGeom>
          <a:noFill/>
        </p:spPr>
        <p:txBody>
          <a:bodyPr wrap="square" lIns="0" rIns="0" tIns="0" bIns="0" anchor="t">
            <a:spAutoFit/>
          </a:bodyPr>
          <a:lstStyle/>
          <a:p>
            <a:pPr algn="l">
              <a:lnSpc>
                <a:spcPct val="130000"/>
              </a:lnSpc>
            </a:pPr>
            <a:r>
              <a:rPr sz="2400" b="0" i="0">
                <a:solidFill>
                  <a:srgbClr val="EEF0F4"/>
                </a:solidFill>
                <a:latin typeface="Georgia"/>
              </a:rPr>
              <a:t>16</a:t>
            </a:r>
          </a:p>
        </p:txBody>
      </p:sp>
      <p:sp>
        <p:nvSpPr>
          <p:cNvPr id="31" name="TextBox 30"/>
          <p:cNvSpPr txBox="1"/>
          <p:nvPr/>
        </p:nvSpPr>
        <p:spPr>
          <a:xfrm>
            <a:off x="5032126" y="5897880"/>
            <a:ext cx="2218883" cy="182880"/>
          </a:xfrm>
          <a:prstGeom prst="rect">
            <a:avLst/>
          </a:prstGeom>
          <a:noFill/>
        </p:spPr>
        <p:txBody>
          <a:bodyPr wrap="square" lIns="0" rIns="0" tIns="0" bIns="0" anchor="t">
            <a:spAutoFit/>
          </a:bodyPr>
          <a:lstStyle/>
          <a:p>
            <a:pPr algn="l">
              <a:lnSpc>
                <a:spcPct val="130000"/>
              </a:lnSpc>
            </a:pPr>
            <a:r>
              <a:rPr sz="700" b="1" i="0" spc="150">
                <a:solidFill>
                  <a:srgbClr val="8C95A8"/>
                </a:solidFill>
                <a:latin typeface="Calibri"/>
              </a:rPr>
              <a:t>PÁGINAS EN CLIENTES</a:t>
            </a:r>
          </a:p>
        </p:txBody>
      </p:sp>
      <p:cxnSp>
        <p:nvCxnSpPr>
          <p:cNvPr id="32" name="Connector 31"/>
          <p:cNvCxnSpPr/>
          <p:nvPr/>
        </p:nvCxnSpPr>
        <p:spPr>
          <a:xfrm>
            <a:off x="7205289.0" y="5486400"/>
            <a:ext cx="0.0" cy="5943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251009" y="5532120"/>
            <a:ext cx="2218883" cy="411480"/>
          </a:xfrm>
          <a:prstGeom prst="rect">
            <a:avLst/>
          </a:prstGeom>
          <a:noFill/>
        </p:spPr>
        <p:txBody>
          <a:bodyPr wrap="square" lIns="0" rIns="0" tIns="0" bIns="0" anchor="t">
            <a:spAutoFit/>
          </a:bodyPr>
          <a:lstStyle/>
          <a:p>
            <a:pPr algn="l">
              <a:lnSpc>
                <a:spcPct val="130000"/>
              </a:lnSpc>
            </a:pPr>
            <a:r>
              <a:rPr sz="2400" b="0" i="0">
                <a:solidFill>
                  <a:srgbClr val="EEF0F4"/>
                </a:solidFill>
                <a:latin typeface="Georgia"/>
              </a:rPr>
              <a:t>58</a:t>
            </a:r>
          </a:p>
        </p:txBody>
      </p:sp>
      <p:sp>
        <p:nvSpPr>
          <p:cNvPr id="34" name="TextBox 33"/>
          <p:cNvSpPr txBox="1"/>
          <p:nvPr/>
        </p:nvSpPr>
        <p:spPr>
          <a:xfrm>
            <a:off x="7251009" y="5897880"/>
            <a:ext cx="2218883" cy="182880"/>
          </a:xfrm>
          <a:prstGeom prst="rect">
            <a:avLst/>
          </a:prstGeom>
          <a:noFill/>
        </p:spPr>
        <p:txBody>
          <a:bodyPr wrap="square" lIns="0" rIns="0" tIns="0" bIns="0" anchor="t">
            <a:spAutoFit/>
          </a:bodyPr>
          <a:lstStyle/>
          <a:p>
            <a:pPr algn="l">
              <a:lnSpc>
                <a:spcPct val="130000"/>
              </a:lnSpc>
            </a:pPr>
            <a:r>
              <a:rPr sz="700" b="1" i="0" spc="150">
                <a:solidFill>
                  <a:srgbClr val="8C95A8"/>
                </a:solidFill>
                <a:latin typeface="Calibri"/>
              </a:rPr>
              <a:t>TABLAS EN POSTGRES</a:t>
            </a:r>
          </a:p>
        </p:txBody>
      </p:sp>
      <p:cxnSp>
        <p:nvCxnSpPr>
          <p:cNvPr id="35" name="Connector 34"/>
          <p:cNvCxnSpPr/>
          <p:nvPr/>
        </p:nvCxnSpPr>
        <p:spPr>
          <a:xfrm>
            <a:off x="9424172.0" y="5486400"/>
            <a:ext cx="0.0" cy="5943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69892" y="5532120"/>
            <a:ext cx="2218883" cy="411480"/>
          </a:xfrm>
          <a:prstGeom prst="rect">
            <a:avLst/>
          </a:prstGeom>
          <a:noFill/>
        </p:spPr>
        <p:txBody>
          <a:bodyPr wrap="square" lIns="0" rIns="0" tIns="0" bIns="0" anchor="t">
            <a:spAutoFit/>
          </a:bodyPr>
          <a:lstStyle/>
          <a:p>
            <a:pPr algn="l">
              <a:lnSpc>
                <a:spcPct val="130000"/>
              </a:lnSpc>
            </a:pPr>
            <a:r>
              <a:rPr sz="2400" b="0" i="0">
                <a:solidFill>
                  <a:srgbClr val="EEF0F4"/>
                </a:solidFill>
                <a:latin typeface="Georgia"/>
              </a:rPr>
              <a:t>91</a:t>
            </a:r>
          </a:p>
        </p:txBody>
      </p:sp>
      <p:sp>
        <p:nvSpPr>
          <p:cNvPr id="37" name="TextBox 36"/>
          <p:cNvSpPr txBox="1"/>
          <p:nvPr/>
        </p:nvSpPr>
        <p:spPr>
          <a:xfrm>
            <a:off x="9469892" y="5897880"/>
            <a:ext cx="2218883" cy="182880"/>
          </a:xfrm>
          <a:prstGeom prst="rect">
            <a:avLst/>
          </a:prstGeom>
          <a:noFill/>
        </p:spPr>
        <p:txBody>
          <a:bodyPr wrap="square" lIns="0" rIns="0" tIns="0" bIns="0" anchor="t">
            <a:spAutoFit/>
          </a:bodyPr>
          <a:lstStyle/>
          <a:p>
            <a:pPr algn="l">
              <a:lnSpc>
                <a:spcPct val="130000"/>
              </a:lnSpc>
            </a:pPr>
            <a:r>
              <a:rPr sz="700" b="1" i="0" spc="150">
                <a:solidFill>
                  <a:srgbClr val="8C95A8"/>
                </a:solidFill>
                <a:latin typeface="Calibri"/>
              </a:rPr>
              <a:t>MIGRACIONES SQL</a:t>
            </a:r>
          </a:p>
        </p:txBody>
      </p:sp>
      <p:sp>
        <p:nvSpPr>
          <p:cNvPr id="38" name="TextBox 37"/>
          <p:cNvSpPr txBox="1"/>
          <p:nvPr/>
        </p:nvSpPr>
        <p:spPr>
          <a:xfrm>
            <a:off x="548640" y="6263640"/>
            <a:ext cx="11094415" cy="274320"/>
          </a:xfrm>
          <a:prstGeom prst="rect">
            <a:avLst/>
          </a:prstGeom>
          <a:noFill/>
        </p:spPr>
        <p:txBody>
          <a:bodyPr wrap="square" lIns="0" rIns="0" tIns="0" bIns="0" anchor="t">
            <a:spAutoFit/>
          </a:bodyPr>
          <a:lstStyle/>
          <a:p>
            <a:pPr algn="l">
              <a:lnSpc>
                <a:spcPct val="130000"/>
              </a:lnSpc>
            </a:pPr>
            <a:r>
              <a:rPr sz="900" b="0" i="1">
                <a:solidFill>
                  <a:srgbClr val="8C95A8"/>
                </a:solidFill>
                <a:latin typeface="Calibri"/>
              </a:rPr>
              <a:t>Cifras tomadas directamente del repositorio de Maninos a fecha de hoy.</a:t>
            </a:r>
          </a:p>
        </p:txBody>
      </p:sp>
      <p:sp>
        <p:nvSpPr>
          <p:cNvPr id="39" name="TextBox 38"/>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02  ·  ARQUITECTURA</a:t>
            </a:r>
          </a:p>
        </p:txBody>
      </p:sp>
      <p:sp>
        <p:nvSpPr>
          <p:cNvPr id="40" name="TextBox 39"/>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TRES PORTALES  ·  UNA BASE DE DATOS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12191695" cy="6858000"/>
          </a:xfrm>
          <a:prstGeom prst="rect">
            <a:avLst/>
          </a:prstGeom>
          <a:solidFill>
            <a:srgbClr val="13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286000"/>
            <a:ext cx="11094415" cy="365760"/>
          </a:xfrm>
          <a:prstGeom prst="rect">
            <a:avLst/>
          </a:prstGeom>
          <a:noFill/>
        </p:spPr>
        <p:txBody>
          <a:bodyPr wrap="square" lIns="0" rIns="0" tIns="0" bIns="0" anchor="t">
            <a:spAutoFit/>
          </a:bodyPr>
          <a:lstStyle/>
          <a:p>
            <a:pPr algn="l">
              <a:lnSpc>
                <a:spcPct val="130000"/>
              </a:lnSpc>
            </a:pPr>
            <a:r>
              <a:rPr sz="1200" b="1" i="0" spc="200">
                <a:solidFill>
                  <a:srgbClr val="C9A047"/>
                </a:solidFill>
                <a:latin typeface="Georgia"/>
              </a:rPr>
              <a:t>— PARTE I —</a:t>
            </a:r>
          </a:p>
        </p:txBody>
      </p:sp>
      <p:sp>
        <p:nvSpPr>
          <p:cNvPr id="5" name="TextBox 4"/>
          <p:cNvSpPr txBox="1"/>
          <p:nvPr/>
        </p:nvSpPr>
        <p:spPr>
          <a:xfrm>
            <a:off x="548640" y="2743200"/>
            <a:ext cx="9144000" cy="1828800"/>
          </a:xfrm>
          <a:prstGeom prst="rect">
            <a:avLst/>
          </a:prstGeom>
          <a:noFill/>
        </p:spPr>
        <p:txBody>
          <a:bodyPr wrap="square" lIns="0" rIns="0" tIns="0" bIns="0" anchor="t">
            <a:spAutoFit/>
          </a:bodyPr>
          <a:lstStyle/>
          <a:p>
            <a:pPr algn="l">
              <a:lnSpc>
                <a:spcPct val="105000"/>
              </a:lnSpc>
            </a:pPr>
            <a:r>
              <a:rPr sz="4800" b="0" i="0">
                <a:solidFill>
                  <a:srgbClr val="EEF0F4"/>
                </a:solidFill>
                <a:latin typeface="Georgia"/>
              </a:rPr>
              <a:t>El sistema, módulo por módulo</a:t>
            </a:r>
          </a:p>
        </p:txBody>
      </p:sp>
      <p:sp>
        <p:nvSpPr>
          <p:cNvPr id="6" name="TextBox 5"/>
          <p:cNvSpPr txBox="1"/>
          <p:nvPr/>
        </p:nvSpPr>
        <p:spPr>
          <a:xfrm>
            <a:off x="548640" y="4572000"/>
            <a:ext cx="7315200" cy="1371600"/>
          </a:xfrm>
          <a:prstGeom prst="rect">
            <a:avLst/>
          </a:prstGeom>
          <a:noFill/>
        </p:spPr>
        <p:txBody>
          <a:bodyPr wrap="square" lIns="0" rIns="0" tIns="0" bIns="0" anchor="t">
            <a:spAutoFit/>
          </a:bodyPr>
          <a:lstStyle/>
          <a:p>
            <a:pPr algn="l">
              <a:lnSpc>
                <a:spcPct val="150000"/>
              </a:lnSpc>
            </a:pPr>
            <a:r>
              <a:rPr sz="1500" b="0" i="1">
                <a:solidFill>
                  <a:srgbClr val="8C95A8"/>
                </a:solidFill>
                <a:latin typeface="Georgia"/>
              </a:rPr>
              <a:t>Recorrido descriptivo por cada portal: qué incluye, cómo lo usa cada usuario, qué datos guarda y cómo se conecta al resto.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Portal Homes</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OPERACIONES INTERNAS</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463040"/>
            <a:ext cx="2286000" cy="274320"/>
          </a:xfrm>
          <a:prstGeom prst="rect">
            <a:avLst/>
          </a:prstGeom>
          <a:noFill/>
        </p:spPr>
        <p:txBody>
          <a:bodyPr wrap="square" lIns="0" rIns="0" tIns="0" bIns="0" anchor="t">
            <a:spAutoFit/>
          </a:bodyPr>
          <a:lstStyle/>
          <a:p>
            <a:pPr algn="l">
              <a:lnSpc>
                <a:spcPct val="130000"/>
              </a:lnSpc>
            </a:pPr>
            <a:r>
              <a:rPr sz="800" b="1" i="0" spc="150">
                <a:solidFill>
                  <a:srgbClr val="5A6478"/>
                </a:solidFill>
                <a:latin typeface="Consolas"/>
              </a:rPr>
              <a:t>/HOMES</a:t>
            </a:r>
          </a:p>
        </p:txBody>
      </p:sp>
      <p:sp>
        <p:nvSpPr>
          <p:cNvPr id="7" name="TextBox 6"/>
          <p:cNvSpPr txBox="1"/>
          <p:nvPr/>
        </p:nvSpPr>
        <p:spPr>
          <a:xfrm>
            <a:off x="548640" y="1783080"/>
            <a:ext cx="2286000" cy="914400"/>
          </a:xfrm>
          <a:prstGeom prst="rect">
            <a:avLst/>
          </a:prstGeom>
          <a:noFill/>
        </p:spPr>
        <p:txBody>
          <a:bodyPr wrap="square" lIns="0" rIns="0" tIns="0" bIns="0" anchor="t">
            <a:spAutoFit/>
          </a:bodyPr>
          <a:lstStyle/>
          <a:p>
            <a:pPr algn="l">
              <a:lnSpc>
                <a:spcPct val="130000"/>
              </a:lnSpc>
            </a:pPr>
            <a:r>
              <a:rPr sz="1500" b="0" i="1">
                <a:solidFill>
                  <a:srgbClr val="C9A047"/>
                </a:solidFill>
                <a:latin typeface="Georgia"/>
              </a:rPr>
              <a:t>El día a día del staff</a:t>
            </a:r>
          </a:p>
        </p:txBody>
      </p:sp>
      <p:sp>
        <p:nvSpPr>
          <p:cNvPr id="8" name="TextBox 7"/>
          <p:cNvSpPr txBox="1"/>
          <p:nvPr/>
        </p:nvSpPr>
        <p:spPr>
          <a:xfrm>
            <a:off x="3200400" y="1463040"/>
            <a:ext cx="8442655" cy="91440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El staff de Maninos pasa la jornada en este portal. Accede por /homes/* tras autenticarse en Supabase con su rol asignado. La barra lateral muestra solo las secciones a las que tiene acceso, con un badge de pendientes (transferencias de título, órdenes de pago, aprobaciones de renovación).</a:t>
            </a:r>
          </a:p>
        </p:txBody>
      </p:sp>
      <p:sp>
        <p:nvSpPr>
          <p:cNvPr id="9" name="TextBox 8"/>
          <p:cNvSpPr txBox="1"/>
          <p:nvPr/>
        </p:nvSpPr>
        <p:spPr>
          <a:xfrm>
            <a:off x="3200400" y="2423160"/>
            <a:ext cx="164592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SECCIÓN</a:t>
            </a:r>
          </a:p>
        </p:txBody>
      </p:sp>
      <p:sp>
        <p:nvSpPr>
          <p:cNvPr id="10" name="TextBox 9"/>
          <p:cNvSpPr txBox="1"/>
          <p:nvPr/>
        </p:nvSpPr>
        <p:spPr>
          <a:xfrm>
            <a:off x="4846320" y="2423160"/>
            <a:ext cx="6613855"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FUNCIÓN</a:t>
            </a:r>
          </a:p>
        </p:txBody>
      </p:sp>
      <p:cxnSp>
        <p:nvCxnSpPr>
          <p:cNvPr id="11" name="Connector 10"/>
          <p:cNvCxnSpPr/>
          <p:nvPr/>
        </p:nvCxnSpPr>
        <p:spPr>
          <a:xfrm>
            <a:off x="3200400" y="2679192"/>
            <a:ext cx="844265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0" y="278892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Dashboard</a:t>
            </a:r>
          </a:p>
        </p:txBody>
      </p:sp>
      <p:sp>
        <p:nvSpPr>
          <p:cNvPr id="13" name="TextBox 12"/>
          <p:cNvSpPr txBox="1"/>
          <p:nvPr/>
        </p:nvSpPr>
        <p:spPr>
          <a:xfrm>
            <a:off x="4846320" y="278892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KPIs, mapa de Texas, gráfico de actividad de los últimos 6 meses, pipeline por estado de propiedad.</a:t>
            </a:r>
          </a:p>
        </p:txBody>
      </p:sp>
      <p:cxnSp>
        <p:nvCxnSpPr>
          <p:cNvPr id="14" name="Connector 13"/>
          <p:cNvCxnSpPr/>
          <p:nvPr/>
        </p:nvCxnSpPr>
        <p:spPr>
          <a:xfrm>
            <a:off x="3200400" y="315468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00400" y="320040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Properties</a:t>
            </a:r>
          </a:p>
        </p:txBody>
      </p:sp>
      <p:sp>
        <p:nvSpPr>
          <p:cNvPr id="16" name="TextBox 15"/>
          <p:cNvSpPr txBox="1"/>
          <p:nvPr/>
        </p:nvSpPr>
        <p:spPr>
          <a:xfrm>
            <a:off x="4846320" y="320040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Listado con filtros por estado (purchased, published, reserved, renovating, sold), búsqueda por dirección/código. Subrutas para edición, fotos, checklist “Revisar Casa” y wizard de renovación.</a:t>
            </a:r>
          </a:p>
        </p:txBody>
      </p:sp>
      <p:cxnSp>
        <p:nvCxnSpPr>
          <p:cNvPr id="17" name="Connector 16"/>
          <p:cNvCxnSpPr/>
          <p:nvPr/>
        </p:nvCxnSpPr>
        <p:spPr>
          <a:xfrm>
            <a:off x="3200400" y="356616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200400" y="361188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Transfers</a:t>
            </a:r>
          </a:p>
        </p:txBody>
      </p:sp>
      <p:sp>
        <p:nvSpPr>
          <p:cNvPr id="19" name="TextBox 18"/>
          <p:cNvSpPr txBox="1"/>
          <p:nvPr/>
        </p:nvSpPr>
        <p:spPr>
          <a:xfrm>
            <a:off x="4846320" y="361188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Títulos en curso. Widget del scheduler diario contra TDHCA + modal para subida manual de títulos legacy. Cada serial es un link directo a la base TDHCA.</a:t>
            </a:r>
          </a:p>
        </p:txBody>
      </p:sp>
      <p:cxnSp>
        <p:nvCxnSpPr>
          <p:cNvPr id="20" name="Connector 19"/>
          <p:cNvCxnSpPr/>
          <p:nvPr/>
        </p:nvCxnSpPr>
        <p:spPr>
          <a:xfrm>
            <a:off x="3200400" y="397764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00400" y="402336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Sales</a:t>
            </a:r>
          </a:p>
        </p:txBody>
      </p:sp>
      <p:sp>
        <p:nvSpPr>
          <p:cNvPr id="22" name="TextBox 21"/>
          <p:cNvSpPr txBox="1"/>
          <p:nvPr/>
        </p:nvSpPr>
        <p:spPr>
          <a:xfrm>
            <a:off x="4846320" y="402336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Ventas activas, pagos parciales, comisiones (finder + closer), generación de Bill of Sale en PDF, redirección a Capital cuando es RTO.</a:t>
            </a:r>
          </a:p>
        </p:txBody>
      </p:sp>
      <p:cxnSp>
        <p:nvCxnSpPr>
          <p:cNvPr id="23" name="Connector 22"/>
          <p:cNvCxnSpPr/>
          <p:nvPr/>
        </p:nvCxnSpPr>
        <p:spPr>
          <a:xfrm>
            <a:off x="3200400" y="438912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00400" y="443484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Clients</a:t>
            </a:r>
          </a:p>
        </p:txBody>
      </p:sp>
      <p:sp>
        <p:nvSpPr>
          <p:cNvPr id="25" name="TextBox 24"/>
          <p:cNvSpPr txBox="1"/>
          <p:nvPr/>
        </p:nvSpPr>
        <p:spPr>
          <a:xfrm>
            <a:off x="4846320" y="443484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CRM interno solo para clientes contado.</a:t>
            </a:r>
          </a:p>
        </p:txBody>
      </p:sp>
      <p:cxnSp>
        <p:nvCxnSpPr>
          <p:cNvPr id="26" name="Connector 25"/>
          <p:cNvCxnSpPr/>
          <p:nvPr/>
        </p:nvCxnSpPr>
        <p:spPr>
          <a:xfrm>
            <a:off x="3200400" y="480060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00400" y="484632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Accounting</a:t>
            </a:r>
          </a:p>
        </p:txBody>
      </p:sp>
      <p:sp>
        <p:nvSpPr>
          <p:cNvPr id="28" name="TextBox 27"/>
          <p:cNvSpPr txBox="1"/>
          <p:nvPr/>
        </p:nvSpPr>
        <p:spPr>
          <a:xfrm>
            <a:off x="4846320" y="484632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11 pestañas: overview, transactions, invoices, statements, chart of accounts, properties, banks, budget, recurring, audit, estado de cuenta.</a:t>
            </a:r>
          </a:p>
        </p:txBody>
      </p:sp>
      <p:cxnSp>
        <p:nvCxnSpPr>
          <p:cNvPr id="29" name="Connector 28"/>
          <p:cNvCxnSpPr/>
          <p:nvPr/>
        </p:nvCxnSpPr>
        <p:spPr>
          <a:xfrm>
            <a:off x="3200400" y="521208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00400" y="525780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Commissions</a:t>
            </a:r>
          </a:p>
        </p:txBody>
      </p:sp>
      <p:sp>
        <p:nvSpPr>
          <p:cNvPr id="31" name="TextBox 30"/>
          <p:cNvSpPr txBox="1"/>
          <p:nvPr/>
        </p:nvSpPr>
        <p:spPr>
          <a:xfrm>
            <a:off x="4846320" y="525780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Comisiones por empleado. Treasury y Admin ven todas; otros roles solo las propias.</a:t>
            </a:r>
          </a:p>
        </p:txBody>
      </p:sp>
      <p:cxnSp>
        <p:nvCxnSpPr>
          <p:cNvPr id="32" name="Connector 31"/>
          <p:cNvCxnSpPr/>
          <p:nvPr/>
        </p:nvCxnSpPr>
        <p:spPr>
          <a:xfrm>
            <a:off x="3200400" y="562356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200400" y="5669280"/>
            <a:ext cx="1645920" cy="365760"/>
          </a:xfrm>
          <a:prstGeom prst="rect">
            <a:avLst/>
          </a:prstGeom>
          <a:noFill/>
        </p:spPr>
        <p:txBody>
          <a:bodyPr wrap="square" lIns="0" rIns="0" tIns="0" bIns="0" anchor="t">
            <a:spAutoFit/>
          </a:bodyPr>
          <a:lstStyle/>
          <a:p>
            <a:pPr algn="l">
              <a:lnSpc>
                <a:spcPct val="130000"/>
              </a:lnSpc>
            </a:pPr>
            <a:r>
              <a:rPr sz="1000" b="1" i="0">
                <a:solidFill>
                  <a:srgbClr val="EEF0F4"/>
                </a:solidFill>
                <a:latin typeface="Calibri"/>
              </a:rPr>
              <a:t>Market</a:t>
            </a:r>
          </a:p>
        </p:txBody>
      </p:sp>
      <p:sp>
        <p:nvSpPr>
          <p:cNvPr id="34" name="TextBox 33"/>
          <p:cNvSpPr txBox="1"/>
          <p:nvPr/>
        </p:nvSpPr>
        <p:spPr>
          <a:xfrm>
            <a:off x="4846320" y="5669280"/>
            <a:ext cx="6613855" cy="45720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Listings externos scrapeados de fuentes públicas.</a:t>
            </a:r>
          </a:p>
        </p:txBody>
      </p:sp>
      <p:cxnSp>
        <p:nvCxnSpPr>
          <p:cNvPr id="35" name="Connector 34"/>
          <p:cNvCxnSpPr/>
          <p:nvPr/>
        </p:nvCxnSpPr>
        <p:spPr>
          <a:xfrm>
            <a:off x="3200400" y="603504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03  ·  PORTAL HOMES</a:t>
            </a:r>
          </a:p>
        </p:txBody>
      </p:sp>
      <p:sp>
        <p:nvSpPr>
          <p:cNvPr id="37" name="TextBox 36"/>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18 PÁGINAS  ·  ACCESO POR 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Portal Capital</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FINANCIAMIENTO PROPIO + INVERSORES</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463040"/>
            <a:ext cx="2286000" cy="274320"/>
          </a:xfrm>
          <a:prstGeom prst="rect">
            <a:avLst/>
          </a:prstGeom>
          <a:noFill/>
        </p:spPr>
        <p:txBody>
          <a:bodyPr wrap="square" lIns="0" rIns="0" tIns="0" bIns="0" anchor="t">
            <a:spAutoFit/>
          </a:bodyPr>
          <a:lstStyle/>
          <a:p>
            <a:pPr algn="l">
              <a:lnSpc>
                <a:spcPct val="130000"/>
              </a:lnSpc>
            </a:pPr>
            <a:r>
              <a:rPr sz="800" b="1" i="0" spc="150">
                <a:solidFill>
                  <a:srgbClr val="5A6478"/>
                </a:solidFill>
                <a:latin typeface="Consolas"/>
              </a:rPr>
              <a:t>/CAPITAL</a:t>
            </a:r>
          </a:p>
        </p:txBody>
      </p:sp>
      <p:sp>
        <p:nvSpPr>
          <p:cNvPr id="7" name="TextBox 6"/>
          <p:cNvSpPr txBox="1"/>
          <p:nvPr/>
        </p:nvSpPr>
        <p:spPr>
          <a:xfrm>
            <a:off x="548640" y="1783080"/>
            <a:ext cx="2286000" cy="914400"/>
          </a:xfrm>
          <a:prstGeom prst="rect">
            <a:avLst/>
          </a:prstGeom>
          <a:noFill/>
        </p:spPr>
        <p:txBody>
          <a:bodyPr wrap="square" lIns="0" rIns="0" tIns="0" bIns="0" anchor="t">
            <a:spAutoFit/>
          </a:bodyPr>
          <a:lstStyle/>
          <a:p>
            <a:pPr algn="l">
              <a:lnSpc>
                <a:spcPct val="130000"/>
              </a:lnSpc>
            </a:pPr>
            <a:r>
              <a:rPr sz="1500" b="0" i="1">
                <a:solidFill>
                  <a:srgbClr val="C9A047"/>
                </a:solidFill>
                <a:latin typeface="Georgia"/>
              </a:rPr>
              <a:t>El dealer como banco</a:t>
            </a:r>
          </a:p>
        </p:txBody>
      </p:sp>
      <p:sp>
        <p:nvSpPr>
          <p:cNvPr id="8" name="TextBox 7"/>
          <p:cNvSpPr txBox="1"/>
          <p:nvPr/>
        </p:nvSpPr>
        <p:spPr>
          <a:xfrm>
            <a:off x="3200400" y="1463040"/>
            <a:ext cx="8442655" cy="91440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Cuando los bancos no financian — y para mobile homes pre-owned casi nunca lo hacen — el dealer se convierte en el prestamista. Capital es el portal donde se administra esa función. El acceso está restringido a un grupo reducido de personas autorizadas.</a:t>
            </a:r>
          </a:p>
        </p:txBody>
      </p:sp>
      <p:sp>
        <p:nvSpPr>
          <p:cNvPr id="9" name="TextBox 8"/>
          <p:cNvSpPr txBox="1"/>
          <p:nvPr/>
        </p:nvSpPr>
        <p:spPr>
          <a:xfrm>
            <a:off x="3200400" y="2423160"/>
            <a:ext cx="164592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SECCIÓN</a:t>
            </a:r>
          </a:p>
        </p:txBody>
      </p:sp>
      <p:sp>
        <p:nvSpPr>
          <p:cNvPr id="10" name="TextBox 9"/>
          <p:cNvSpPr txBox="1"/>
          <p:nvPr/>
        </p:nvSpPr>
        <p:spPr>
          <a:xfrm>
            <a:off x="4846320" y="2423160"/>
            <a:ext cx="6613855"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FUNCIÓN</a:t>
            </a:r>
          </a:p>
        </p:txBody>
      </p:sp>
      <p:cxnSp>
        <p:nvCxnSpPr>
          <p:cNvPr id="11" name="Connector 10"/>
          <p:cNvCxnSpPr/>
          <p:nvPr/>
        </p:nvCxnSpPr>
        <p:spPr>
          <a:xfrm>
            <a:off x="3200400" y="2679192"/>
            <a:ext cx="844265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0" y="2788920"/>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Dashboard</a:t>
            </a:r>
          </a:p>
        </p:txBody>
      </p:sp>
      <p:sp>
        <p:nvSpPr>
          <p:cNvPr id="13" name="TextBox 12"/>
          <p:cNvSpPr txBox="1"/>
          <p:nvPr/>
        </p:nvSpPr>
        <p:spPr>
          <a:xfrm>
            <a:off x="4846320" y="2788920"/>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Resumen de cartera, salud financiera, actividad reciente, KPIs.</a:t>
            </a:r>
          </a:p>
        </p:txBody>
      </p:sp>
      <p:cxnSp>
        <p:nvCxnSpPr>
          <p:cNvPr id="14" name="Connector 13"/>
          <p:cNvCxnSpPr/>
          <p:nvPr/>
        </p:nvCxnSpPr>
        <p:spPr>
          <a:xfrm>
            <a:off x="3200400" y="3081528"/>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200400" y="3118104"/>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Applications</a:t>
            </a:r>
          </a:p>
        </p:txBody>
      </p:sp>
      <p:sp>
        <p:nvSpPr>
          <p:cNvPr id="16" name="TextBox 15"/>
          <p:cNvSpPr txBox="1"/>
          <p:nvPr/>
        </p:nvSpPr>
        <p:spPr>
          <a:xfrm>
            <a:off x="4846320" y="3118104"/>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Solicitudes RTO en cada estado: pending, under review, approved, rejected, needs_info. Underwriting + scoring.</a:t>
            </a:r>
          </a:p>
        </p:txBody>
      </p:sp>
      <p:cxnSp>
        <p:nvCxnSpPr>
          <p:cNvPr id="17" name="Connector 16"/>
          <p:cNvCxnSpPr/>
          <p:nvPr/>
        </p:nvCxnSpPr>
        <p:spPr>
          <a:xfrm>
            <a:off x="3200400" y="3410712"/>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200400" y="3447288"/>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KYC</a:t>
            </a:r>
          </a:p>
        </p:txBody>
      </p:sp>
      <p:sp>
        <p:nvSpPr>
          <p:cNvPr id="19" name="TextBox 18"/>
          <p:cNvSpPr txBox="1"/>
          <p:nvPr/>
        </p:nvSpPr>
        <p:spPr>
          <a:xfrm>
            <a:off x="4846320" y="3447288"/>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Verificación manual de identidad. Documentos subidos por el cliente al bucket de Supabase, revisados aquí. Sin servicio externo.</a:t>
            </a:r>
          </a:p>
        </p:txBody>
      </p:sp>
      <p:cxnSp>
        <p:nvCxnSpPr>
          <p:cNvPr id="20" name="Connector 19"/>
          <p:cNvCxnSpPr/>
          <p:nvPr/>
        </p:nvCxnSpPr>
        <p:spPr>
          <a:xfrm>
            <a:off x="3200400" y="3739896"/>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200400" y="3776472"/>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Contracts</a:t>
            </a:r>
          </a:p>
        </p:txBody>
      </p:sp>
      <p:sp>
        <p:nvSpPr>
          <p:cNvPr id="22" name="TextBox 21"/>
          <p:cNvSpPr txBox="1"/>
          <p:nvPr/>
        </p:nvSpPr>
        <p:spPr>
          <a:xfrm>
            <a:off x="4846320" y="3776472"/>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Contratos RTO con sus 33 cláusulas, tabla de amortización, tracking de down payment por cuotas, generación de PDF.</a:t>
            </a:r>
          </a:p>
        </p:txBody>
      </p:sp>
      <p:cxnSp>
        <p:nvCxnSpPr>
          <p:cNvPr id="23" name="Connector 22"/>
          <p:cNvCxnSpPr/>
          <p:nvPr/>
        </p:nvCxnSpPr>
        <p:spPr>
          <a:xfrm>
            <a:off x="3200400" y="406908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200400" y="4105656"/>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Payments</a:t>
            </a:r>
          </a:p>
        </p:txBody>
      </p:sp>
      <p:sp>
        <p:nvSpPr>
          <p:cNvPr id="25" name="TextBox 24"/>
          <p:cNvSpPr txBox="1"/>
          <p:nvPr/>
        </p:nvSpPr>
        <p:spPr>
          <a:xfrm>
            <a:off x="4846320" y="4105656"/>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Pagos mensuales, confirmación de transferencias reportadas por el cliente, mora summary, comisiones, alertas de seguro vencido.</a:t>
            </a:r>
          </a:p>
        </p:txBody>
      </p:sp>
      <p:cxnSp>
        <p:nvCxnSpPr>
          <p:cNvPr id="26" name="Connector 25"/>
          <p:cNvCxnSpPr/>
          <p:nvPr/>
        </p:nvCxnSpPr>
        <p:spPr>
          <a:xfrm>
            <a:off x="3200400" y="4398264"/>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200400" y="4434840"/>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Investors</a:t>
            </a:r>
          </a:p>
        </p:txBody>
      </p:sp>
      <p:sp>
        <p:nvSpPr>
          <p:cNvPr id="28" name="TextBox 27"/>
          <p:cNvSpPr txBox="1"/>
          <p:nvPr/>
        </p:nvSpPr>
        <p:spPr>
          <a:xfrm>
            <a:off x="4846320" y="4434840"/>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Inversores activos, capital comprometido, capital desplegado, retornos.</a:t>
            </a:r>
          </a:p>
        </p:txBody>
      </p:sp>
      <p:cxnSp>
        <p:nvCxnSpPr>
          <p:cNvPr id="29" name="Connector 28"/>
          <p:cNvCxnSpPr/>
          <p:nvPr/>
        </p:nvCxnSpPr>
        <p:spPr>
          <a:xfrm>
            <a:off x="3200400" y="4727448"/>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00400" y="4764024"/>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Promissory notes</a:t>
            </a:r>
          </a:p>
        </p:txBody>
      </p:sp>
      <p:sp>
        <p:nvSpPr>
          <p:cNvPr id="31" name="TextBox 30"/>
          <p:cNvSpPr txBox="1"/>
          <p:nvPr/>
        </p:nvSpPr>
        <p:spPr>
          <a:xfrm>
            <a:off x="4846320" y="4764024"/>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Pagarés de inversores con alertas de maturity a 90, 60 y 30 días.</a:t>
            </a:r>
          </a:p>
        </p:txBody>
      </p:sp>
      <p:cxnSp>
        <p:nvCxnSpPr>
          <p:cNvPr id="32" name="Connector 31"/>
          <p:cNvCxnSpPr/>
          <p:nvPr/>
        </p:nvCxnSpPr>
        <p:spPr>
          <a:xfrm>
            <a:off x="3200400" y="5056632"/>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200400" y="5093208"/>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Accounting</a:t>
            </a:r>
          </a:p>
        </p:txBody>
      </p:sp>
      <p:sp>
        <p:nvSpPr>
          <p:cNvPr id="34" name="TextBox 33"/>
          <p:cNvSpPr txBox="1"/>
          <p:nvPr/>
        </p:nvSpPr>
        <p:spPr>
          <a:xfrm>
            <a:off x="4846320" y="5093208"/>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Contabilidad propia de Capital: chart of accounts, asientos, estados bancarios con reconciliación, reportes (P&amp;L, balance, flujo de caja).</a:t>
            </a:r>
          </a:p>
        </p:txBody>
      </p:sp>
      <p:cxnSp>
        <p:nvCxnSpPr>
          <p:cNvPr id="35" name="Connector 34"/>
          <p:cNvCxnSpPr/>
          <p:nvPr/>
        </p:nvCxnSpPr>
        <p:spPr>
          <a:xfrm>
            <a:off x="3200400" y="5385816"/>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3200400" y="5422392"/>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Reports</a:t>
            </a:r>
          </a:p>
        </p:txBody>
      </p:sp>
      <p:sp>
        <p:nvSpPr>
          <p:cNvPr id="37" name="TextBox 36"/>
          <p:cNvSpPr txBox="1"/>
          <p:nvPr/>
        </p:nvSpPr>
        <p:spPr>
          <a:xfrm>
            <a:off x="4846320" y="5422392"/>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Estados mensuales en PDF para cada inversor + resúmenes unificados de cartera.</a:t>
            </a:r>
          </a:p>
        </p:txBody>
      </p:sp>
      <p:cxnSp>
        <p:nvCxnSpPr>
          <p:cNvPr id="38" name="Connector 37"/>
          <p:cNvCxnSpPr/>
          <p:nvPr/>
        </p:nvCxnSpPr>
        <p:spPr>
          <a:xfrm>
            <a:off x="3200400" y="5715000"/>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200400" y="5751576"/>
            <a:ext cx="1645920" cy="329184"/>
          </a:xfrm>
          <a:prstGeom prst="rect">
            <a:avLst/>
          </a:prstGeom>
          <a:noFill/>
        </p:spPr>
        <p:txBody>
          <a:bodyPr wrap="square" lIns="0" rIns="0" tIns="0" bIns="0" anchor="t">
            <a:spAutoFit/>
          </a:bodyPr>
          <a:lstStyle/>
          <a:p>
            <a:pPr algn="l">
              <a:lnSpc>
                <a:spcPct val="130000"/>
              </a:lnSpc>
            </a:pPr>
            <a:r>
              <a:rPr sz="950" b="1" i="0">
                <a:solidFill>
                  <a:srgbClr val="EEF0F4"/>
                </a:solidFill>
                <a:latin typeface="Calibri"/>
              </a:rPr>
              <a:t>Mora</a:t>
            </a:r>
          </a:p>
        </p:txBody>
      </p:sp>
      <p:sp>
        <p:nvSpPr>
          <p:cNvPr id="40" name="TextBox 39"/>
          <p:cNvSpPr txBox="1"/>
          <p:nvPr/>
        </p:nvSpPr>
        <p:spPr>
          <a:xfrm>
            <a:off x="4846320" y="5751576"/>
            <a:ext cx="6613855" cy="45720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Cartera vencida por aging bucket (0–30, 31–60, 61–90, 90+).</a:t>
            </a:r>
          </a:p>
        </p:txBody>
      </p:sp>
      <p:cxnSp>
        <p:nvCxnSpPr>
          <p:cNvPr id="41" name="Connector 40"/>
          <p:cNvCxnSpPr/>
          <p:nvPr/>
        </p:nvCxnSpPr>
        <p:spPr>
          <a:xfrm>
            <a:off x="3200400" y="6044184"/>
            <a:ext cx="844265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04  ·  PORTAL CAPITAL</a:t>
            </a:r>
          </a:p>
        </p:txBody>
      </p:sp>
      <p:sp>
        <p:nvSpPr>
          <p:cNvPr id="43" name="TextBox 42"/>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19 PÁGINAS  ·  13 ARCHIVOS DE RUTAS BACKEND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Portal Clientes</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CARA PÚBLICA Y AUTOSERVICIO</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463040"/>
            <a:ext cx="2286000" cy="274320"/>
          </a:xfrm>
          <a:prstGeom prst="rect">
            <a:avLst/>
          </a:prstGeom>
          <a:noFill/>
        </p:spPr>
        <p:txBody>
          <a:bodyPr wrap="square" lIns="0" rIns="0" tIns="0" bIns="0" anchor="t">
            <a:spAutoFit/>
          </a:bodyPr>
          <a:lstStyle/>
          <a:p>
            <a:pPr algn="l">
              <a:lnSpc>
                <a:spcPct val="130000"/>
              </a:lnSpc>
            </a:pPr>
            <a:r>
              <a:rPr sz="800" b="1" i="0" spc="150">
                <a:solidFill>
                  <a:srgbClr val="5A6478"/>
                </a:solidFill>
                <a:latin typeface="Consolas"/>
              </a:rPr>
              <a:t>/CLIENTES</a:t>
            </a:r>
          </a:p>
        </p:txBody>
      </p:sp>
      <p:sp>
        <p:nvSpPr>
          <p:cNvPr id="7" name="TextBox 6"/>
          <p:cNvSpPr txBox="1"/>
          <p:nvPr/>
        </p:nvSpPr>
        <p:spPr>
          <a:xfrm>
            <a:off x="548640" y="1783080"/>
            <a:ext cx="2286000" cy="1097280"/>
          </a:xfrm>
          <a:prstGeom prst="rect">
            <a:avLst/>
          </a:prstGeom>
          <a:noFill/>
        </p:spPr>
        <p:txBody>
          <a:bodyPr wrap="square" lIns="0" rIns="0" tIns="0" bIns="0" anchor="t">
            <a:spAutoFit/>
          </a:bodyPr>
          <a:lstStyle/>
          <a:p>
            <a:pPr algn="l">
              <a:lnSpc>
                <a:spcPct val="130000"/>
              </a:lnSpc>
            </a:pPr>
            <a:r>
              <a:rPr sz="1500" b="0" i="1">
                <a:solidFill>
                  <a:srgbClr val="C9A047"/>
                </a:solidFill>
                <a:latin typeface="Georgia"/>
              </a:rPr>
              <a:t>Del primer click al pago 36</a:t>
            </a:r>
          </a:p>
        </p:txBody>
      </p:sp>
      <p:sp>
        <p:nvSpPr>
          <p:cNvPr id="8" name="TextBox 7"/>
          <p:cNvSpPr txBox="1"/>
          <p:nvPr/>
        </p:nvSpPr>
        <p:spPr>
          <a:xfrm>
            <a:off x="3200400" y="1463040"/>
            <a:ext cx="8442655" cy="82296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Es el único portal accesible sin sesión. Un visitante puede llegar al catálogo desde Facebook o desde un link directo. La autenticación aparece solo al avanzar en el embudo de compra.</a:t>
            </a:r>
          </a:p>
        </p:txBody>
      </p:sp>
      <p:sp>
        <p:nvSpPr>
          <p:cNvPr id="9" name="TextBox 8"/>
          <p:cNvSpPr txBox="1"/>
          <p:nvPr/>
        </p:nvSpPr>
        <p:spPr>
          <a:xfrm>
            <a:off x="3200400" y="2468880"/>
            <a:ext cx="8442655"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CAMINO DEL VISITANTE</a:t>
            </a:r>
          </a:p>
        </p:txBody>
      </p:sp>
      <p:cxnSp>
        <p:nvCxnSpPr>
          <p:cNvPr id="10" name="Connector 9"/>
          <p:cNvCxnSpPr/>
          <p:nvPr/>
        </p:nvCxnSpPr>
        <p:spPr>
          <a:xfrm>
            <a:off x="3200400" y="2788920"/>
            <a:ext cx="844265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200400" y="4069080"/>
            <a:ext cx="844265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2926080"/>
            <a:ext cx="1927783" cy="228600"/>
          </a:xfrm>
          <a:prstGeom prst="rect">
            <a:avLst/>
          </a:prstGeom>
          <a:noFill/>
        </p:spPr>
        <p:txBody>
          <a:bodyPr wrap="square" lIns="0" rIns="0" tIns="0" bIns="0" anchor="t">
            <a:spAutoFit/>
          </a:bodyPr>
          <a:lstStyle/>
          <a:p>
            <a:pPr algn="l">
              <a:lnSpc>
                <a:spcPct val="130000"/>
              </a:lnSpc>
            </a:pPr>
            <a:r>
              <a:rPr sz="800" b="0" i="0" spc="150">
                <a:solidFill>
                  <a:srgbClr val="5A6478"/>
                </a:solidFill>
                <a:latin typeface="Consolas"/>
              </a:rPr>
              <a:t>— 01 —</a:t>
            </a:r>
          </a:p>
        </p:txBody>
      </p:sp>
      <p:sp>
        <p:nvSpPr>
          <p:cNvPr id="13" name="TextBox 12"/>
          <p:cNvSpPr txBox="1"/>
          <p:nvPr/>
        </p:nvSpPr>
        <p:spPr>
          <a:xfrm>
            <a:off x="3246120" y="3154680"/>
            <a:ext cx="1927783" cy="365760"/>
          </a:xfrm>
          <a:prstGeom prst="rect">
            <a:avLst/>
          </a:prstGeom>
          <a:noFill/>
        </p:spPr>
        <p:txBody>
          <a:bodyPr wrap="square" lIns="0" rIns="0" tIns="0" bIns="0" anchor="t">
            <a:spAutoFit/>
          </a:bodyPr>
          <a:lstStyle/>
          <a:p>
            <a:pPr algn="l">
              <a:lnSpc>
                <a:spcPct val="130000"/>
              </a:lnSpc>
            </a:pPr>
            <a:r>
              <a:rPr sz="1400" b="0" i="0">
                <a:solidFill>
                  <a:srgbClr val="EEF0F4"/>
                </a:solidFill>
                <a:latin typeface="Georgia"/>
              </a:rPr>
              <a:t>Catálogo</a:t>
            </a:r>
          </a:p>
        </p:txBody>
      </p:sp>
      <p:sp>
        <p:nvSpPr>
          <p:cNvPr id="14" name="TextBox 13"/>
          <p:cNvSpPr txBox="1"/>
          <p:nvPr/>
        </p:nvSpPr>
        <p:spPr>
          <a:xfrm>
            <a:off x="3246120" y="3502152"/>
            <a:ext cx="1927783" cy="548640"/>
          </a:xfrm>
          <a:prstGeom prst="rect">
            <a:avLst/>
          </a:prstGeom>
          <a:noFill/>
        </p:spPr>
        <p:txBody>
          <a:bodyPr wrap="square" lIns="0" rIns="0" tIns="0" bIns="0" anchor="t">
            <a:spAutoFit/>
          </a:bodyPr>
          <a:lstStyle/>
          <a:p>
            <a:pPr algn="l">
              <a:lnSpc>
                <a:spcPct val="140000"/>
              </a:lnSpc>
            </a:pPr>
            <a:r>
              <a:rPr sz="850" b="0" i="0">
                <a:solidFill>
                  <a:srgbClr val="8C95A8"/>
                </a:solidFill>
                <a:latin typeface="Calibri"/>
              </a:rPr>
              <a:t>Listado público con filtros por ciudad y precio. Auto-refresh cada 2 min.</a:t>
            </a:r>
          </a:p>
        </p:txBody>
      </p:sp>
      <p:cxnSp>
        <p:nvCxnSpPr>
          <p:cNvPr id="15" name="Connector 14"/>
          <p:cNvCxnSpPr/>
          <p:nvPr/>
        </p:nvCxnSpPr>
        <p:spPr>
          <a:xfrm>
            <a:off x="5311063.75" y="2788920"/>
            <a:ext cx="0.0" cy="12801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356783" y="2926080"/>
            <a:ext cx="1927783" cy="228600"/>
          </a:xfrm>
          <a:prstGeom prst="rect">
            <a:avLst/>
          </a:prstGeom>
          <a:noFill/>
        </p:spPr>
        <p:txBody>
          <a:bodyPr wrap="square" lIns="0" rIns="0" tIns="0" bIns="0" anchor="t">
            <a:spAutoFit/>
          </a:bodyPr>
          <a:lstStyle/>
          <a:p>
            <a:pPr algn="l">
              <a:lnSpc>
                <a:spcPct val="130000"/>
              </a:lnSpc>
            </a:pPr>
            <a:r>
              <a:rPr sz="800" b="0" i="0" spc="150">
                <a:solidFill>
                  <a:srgbClr val="5A6478"/>
                </a:solidFill>
                <a:latin typeface="Consolas"/>
              </a:rPr>
              <a:t>— 02 —</a:t>
            </a:r>
          </a:p>
        </p:txBody>
      </p:sp>
      <p:sp>
        <p:nvSpPr>
          <p:cNvPr id="17" name="TextBox 16"/>
          <p:cNvSpPr txBox="1"/>
          <p:nvPr/>
        </p:nvSpPr>
        <p:spPr>
          <a:xfrm>
            <a:off x="5356783" y="3154680"/>
            <a:ext cx="1927783" cy="365760"/>
          </a:xfrm>
          <a:prstGeom prst="rect">
            <a:avLst/>
          </a:prstGeom>
          <a:noFill/>
        </p:spPr>
        <p:txBody>
          <a:bodyPr wrap="square" lIns="0" rIns="0" tIns="0" bIns="0" anchor="t">
            <a:spAutoFit/>
          </a:bodyPr>
          <a:lstStyle/>
          <a:p>
            <a:pPr algn="l">
              <a:lnSpc>
                <a:spcPct val="130000"/>
              </a:lnSpc>
            </a:pPr>
            <a:r>
              <a:rPr sz="1400" b="0" i="0">
                <a:solidFill>
                  <a:srgbClr val="EEF0F4"/>
                </a:solidFill>
                <a:latin typeface="Georgia"/>
              </a:rPr>
              <a:t>Propiedad</a:t>
            </a:r>
          </a:p>
        </p:txBody>
      </p:sp>
      <p:sp>
        <p:nvSpPr>
          <p:cNvPr id="18" name="TextBox 17"/>
          <p:cNvSpPr txBox="1"/>
          <p:nvPr/>
        </p:nvSpPr>
        <p:spPr>
          <a:xfrm>
            <a:off x="5356783" y="3502152"/>
            <a:ext cx="1927783" cy="548640"/>
          </a:xfrm>
          <a:prstGeom prst="rect">
            <a:avLst/>
          </a:prstGeom>
          <a:noFill/>
        </p:spPr>
        <p:txBody>
          <a:bodyPr wrap="square" lIns="0" rIns="0" tIns="0" bIns="0" anchor="t">
            <a:spAutoFit/>
          </a:bodyPr>
          <a:lstStyle/>
          <a:p>
            <a:pPr algn="l">
              <a:lnSpc>
                <a:spcPct val="140000"/>
              </a:lnSpc>
            </a:pPr>
            <a:r>
              <a:rPr sz="850" b="0" i="0">
                <a:solidFill>
                  <a:srgbClr val="8C95A8"/>
                </a:solidFill>
                <a:latin typeface="Calibri"/>
              </a:rPr>
              <a:t>Detalle con galería, especificaciones y simulador RTO interactivo (down 30–100%, plazo 12–60 meses).</a:t>
            </a:r>
          </a:p>
        </p:txBody>
      </p:sp>
      <p:cxnSp>
        <p:nvCxnSpPr>
          <p:cNvPr id="19" name="Connector 18"/>
          <p:cNvCxnSpPr/>
          <p:nvPr/>
        </p:nvCxnSpPr>
        <p:spPr>
          <a:xfrm>
            <a:off x="7421727.5" y="2788920"/>
            <a:ext cx="0.0" cy="12801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67447" y="2926080"/>
            <a:ext cx="1927783" cy="228600"/>
          </a:xfrm>
          <a:prstGeom prst="rect">
            <a:avLst/>
          </a:prstGeom>
          <a:noFill/>
        </p:spPr>
        <p:txBody>
          <a:bodyPr wrap="square" lIns="0" rIns="0" tIns="0" bIns="0" anchor="t">
            <a:spAutoFit/>
          </a:bodyPr>
          <a:lstStyle/>
          <a:p>
            <a:pPr algn="l">
              <a:lnSpc>
                <a:spcPct val="130000"/>
              </a:lnSpc>
            </a:pPr>
            <a:r>
              <a:rPr sz="800" b="0" i="0" spc="150">
                <a:solidFill>
                  <a:srgbClr val="5A6478"/>
                </a:solidFill>
                <a:latin typeface="Consolas"/>
              </a:rPr>
              <a:t>— 03 —</a:t>
            </a:r>
          </a:p>
        </p:txBody>
      </p:sp>
      <p:sp>
        <p:nvSpPr>
          <p:cNvPr id="21" name="TextBox 20"/>
          <p:cNvSpPr txBox="1"/>
          <p:nvPr/>
        </p:nvSpPr>
        <p:spPr>
          <a:xfrm>
            <a:off x="7467447" y="3154680"/>
            <a:ext cx="1927783" cy="365760"/>
          </a:xfrm>
          <a:prstGeom prst="rect">
            <a:avLst/>
          </a:prstGeom>
          <a:noFill/>
        </p:spPr>
        <p:txBody>
          <a:bodyPr wrap="square" lIns="0" rIns="0" tIns="0" bIns="0" anchor="t">
            <a:spAutoFit/>
          </a:bodyPr>
          <a:lstStyle/>
          <a:p>
            <a:pPr algn="l">
              <a:lnSpc>
                <a:spcPct val="130000"/>
              </a:lnSpc>
            </a:pPr>
            <a:r>
              <a:rPr sz="1400" b="0" i="0">
                <a:solidFill>
                  <a:srgbClr val="EEF0F4"/>
                </a:solidFill>
                <a:latin typeface="Georgia"/>
              </a:rPr>
              <a:t>Compra</a:t>
            </a:r>
          </a:p>
        </p:txBody>
      </p:sp>
      <p:sp>
        <p:nvSpPr>
          <p:cNvPr id="22" name="TextBox 21"/>
          <p:cNvSpPr txBox="1"/>
          <p:nvPr/>
        </p:nvSpPr>
        <p:spPr>
          <a:xfrm>
            <a:off x="7467447" y="3502152"/>
            <a:ext cx="1927783" cy="548640"/>
          </a:xfrm>
          <a:prstGeom prst="rect">
            <a:avLst/>
          </a:prstGeom>
          <a:noFill/>
        </p:spPr>
        <p:txBody>
          <a:bodyPr wrap="square" lIns="0" rIns="0" tIns="0" bIns="0" anchor="t">
            <a:spAutoFit/>
          </a:bodyPr>
          <a:lstStyle/>
          <a:p>
            <a:pPr algn="l">
              <a:lnSpc>
                <a:spcPct val="140000"/>
              </a:lnSpc>
            </a:pPr>
            <a:r>
              <a:rPr sz="850" b="0" i="0">
                <a:solidFill>
                  <a:srgbClr val="8C95A8"/>
                </a:solidFill>
                <a:latin typeface="Calibri"/>
              </a:rPr>
              <a:t>Captura contacto, crea cliente o reusa existente, elige método: contado o RTO.</a:t>
            </a:r>
          </a:p>
        </p:txBody>
      </p:sp>
      <p:cxnSp>
        <p:nvCxnSpPr>
          <p:cNvPr id="23" name="Connector 22"/>
          <p:cNvCxnSpPr/>
          <p:nvPr/>
        </p:nvCxnSpPr>
        <p:spPr>
          <a:xfrm>
            <a:off x="9532391.25" y="2788920"/>
            <a:ext cx="0.0" cy="128016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78111" y="2926080"/>
            <a:ext cx="1927783" cy="228600"/>
          </a:xfrm>
          <a:prstGeom prst="rect">
            <a:avLst/>
          </a:prstGeom>
          <a:noFill/>
        </p:spPr>
        <p:txBody>
          <a:bodyPr wrap="square" lIns="0" rIns="0" tIns="0" bIns="0" anchor="t">
            <a:spAutoFit/>
          </a:bodyPr>
          <a:lstStyle/>
          <a:p>
            <a:pPr algn="l">
              <a:lnSpc>
                <a:spcPct val="130000"/>
              </a:lnSpc>
            </a:pPr>
            <a:r>
              <a:rPr sz="800" b="0" i="0" spc="150">
                <a:solidFill>
                  <a:srgbClr val="5A6478"/>
                </a:solidFill>
                <a:latin typeface="Consolas"/>
              </a:rPr>
              <a:t>— 04 —</a:t>
            </a:r>
          </a:p>
        </p:txBody>
      </p:sp>
      <p:sp>
        <p:nvSpPr>
          <p:cNvPr id="25" name="TextBox 24"/>
          <p:cNvSpPr txBox="1"/>
          <p:nvPr/>
        </p:nvSpPr>
        <p:spPr>
          <a:xfrm>
            <a:off x="9578111" y="3154680"/>
            <a:ext cx="1927783" cy="365760"/>
          </a:xfrm>
          <a:prstGeom prst="rect">
            <a:avLst/>
          </a:prstGeom>
          <a:noFill/>
        </p:spPr>
        <p:txBody>
          <a:bodyPr wrap="square" lIns="0" rIns="0" tIns="0" bIns="0" anchor="t">
            <a:spAutoFit/>
          </a:bodyPr>
          <a:lstStyle/>
          <a:p>
            <a:pPr algn="l">
              <a:lnSpc>
                <a:spcPct val="130000"/>
              </a:lnSpc>
            </a:pPr>
            <a:r>
              <a:rPr sz="1400" b="0" i="0">
                <a:solidFill>
                  <a:srgbClr val="EEF0F4"/>
                </a:solidFill>
                <a:latin typeface="Georgia"/>
              </a:rPr>
              <a:t>Cuenta</a:t>
            </a:r>
          </a:p>
        </p:txBody>
      </p:sp>
      <p:sp>
        <p:nvSpPr>
          <p:cNvPr id="26" name="TextBox 25"/>
          <p:cNvSpPr txBox="1"/>
          <p:nvPr/>
        </p:nvSpPr>
        <p:spPr>
          <a:xfrm>
            <a:off x="9578111" y="3502152"/>
            <a:ext cx="1927783" cy="548640"/>
          </a:xfrm>
          <a:prstGeom prst="rect">
            <a:avLst/>
          </a:prstGeom>
          <a:noFill/>
        </p:spPr>
        <p:txBody>
          <a:bodyPr wrap="square" lIns="0" rIns="0" tIns="0" bIns="0" anchor="t">
            <a:spAutoFit/>
          </a:bodyPr>
          <a:lstStyle/>
          <a:p>
            <a:pPr algn="l">
              <a:lnSpc>
                <a:spcPct val="140000"/>
              </a:lnSpc>
            </a:pPr>
            <a:r>
              <a:rPr sz="850" b="0" i="0">
                <a:solidFill>
                  <a:srgbClr val="8C95A8"/>
                </a:solidFill>
                <a:latin typeface="Calibri"/>
              </a:rPr>
              <a:t>Estado de cuenta, KYC, firma de contrato, documentos, reportar pagos mensuales.</a:t>
            </a:r>
          </a:p>
        </p:txBody>
      </p:sp>
      <p:sp>
        <p:nvSpPr>
          <p:cNvPr id="27" name="TextBox 26"/>
          <p:cNvSpPr txBox="1"/>
          <p:nvPr/>
        </p:nvSpPr>
        <p:spPr>
          <a:xfrm>
            <a:off x="3200400" y="4297680"/>
            <a:ext cx="8442655"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LO QUE EL CLIENTE PUEDE HACER EN SU CUENTA</a:t>
            </a:r>
          </a:p>
        </p:txBody>
      </p:sp>
      <p:sp>
        <p:nvSpPr>
          <p:cNvPr id="28" name="TextBox 27"/>
          <p:cNvSpPr txBox="1"/>
          <p:nvPr/>
        </p:nvSpPr>
        <p:spPr>
          <a:xfrm>
            <a:off x="3200400" y="4663440"/>
            <a:ext cx="8442655" cy="27432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Subir su licencia, pasaporte o ID estatal para KYC (JPG/PNG/WebP/HEIC, máx 10 MB)</a:t>
            </a:r>
          </a:p>
        </p:txBody>
      </p:sp>
      <p:sp>
        <p:nvSpPr>
          <p:cNvPr id="29" name="TextBox 28"/>
          <p:cNvSpPr txBox="1"/>
          <p:nvPr/>
        </p:nvSpPr>
        <p:spPr>
          <a:xfrm>
            <a:off x="3200400" y="4956048"/>
            <a:ext cx="8442655" cy="27432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Firmar electrónicamente su contrato RTO con sello de tiempo, IP y user-agent registrados</a:t>
            </a:r>
          </a:p>
        </p:txBody>
      </p:sp>
      <p:sp>
        <p:nvSpPr>
          <p:cNvPr id="30" name="TextBox 29"/>
          <p:cNvSpPr txBox="1"/>
          <p:nvPr/>
        </p:nvSpPr>
        <p:spPr>
          <a:xfrm>
            <a:off x="3200400" y="5248656"/>
            <a:ext cx="8442655" cy="27432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Completar la solicitud de crédito en secciones (empleo, vivienda, activos, deudas, referencias)</a:t>
            </a:r>
          </a:p>
        </p:txBody>
      </p:sp>
      <p:sp>
        <p:nvSpPr>
          <p:cNvPr id="31" name="TextBox 30"/>
          <p:cNvSpPr txBox="1"/>
          <p:nvPr/>
        </p:nvSpPr>
        <p:spPr>
          <a:xfrm>
            <a:off x="3200400" y="5541264"/>
            <a:ext cx="8442655" cy="27432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Reportar el pago mensual del mes en curso y ver el historial completo de pagos</a:t>
            </a:r>
          </a:p>
        </p:txBody>
      </p:sp>
      <p:sp>
        <p:nvSpPr>
          <p:cNvPr id="32" name="TextBox 31"/>
          <p:cNvSpPr txBox="1"/>
          <p:nvPr/>
        </p:nvSpPr>
        <p:spPr>
          <a:xfrm>
            <a:off x="3200400" y="5833872"/>
            <a:ext cx="8442655" cy="27432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Descargar contratos firmados y documentos de transferencia de título</a:t>
            </a:r>
          </a:p>
        </p:txBody>
      </p:sp>
      <p:sp>
        <p:nvSpPr>
          <p:cNvPr id="33" name="TextBox 32"/>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05  ·  PORTAL CLIENTES</a:t>
            </a:r>
          </a:p>
        </p:txBody>
      </p:sp>
      <p:sp>
        <p:nvSpPr>
          <p:cNvPr id="34" name="TextBox 33"/>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16 PÁGINAS  ·  PÚBLICO + AUTENTICADO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12191695" cy="6858000"/>
          </a:xfrm>
          <a:prstGeom prst="rect">
            <a:avLst/>
          </a:prstGeom>
          <a:solidFill>
            <a:srgbClr val="13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286000"/>
            <a:ext cx="11094415" cy="365760"/>
          </a:xfrm>
          <a:prstGeom prst="rect">
            <a:avLst/>
          </a:prstGeom>
          <a:noFill/>
        </p:spPr>
        <p:txBody>
          <a:bodyPr wrap="square" lIns="0" rIns="0" tIns="0" bIns="0" anchor="t">
            <a:spAutoFit/>
          </a:bodyPr>
          <a:lstStyle/>
          <a:p>
            <a:pPr algn="l">
              <a:lnSpc>
                <a:spcPct val="130000"/>
              </a:lnSpc>
            </a:pPr>
            <a:r>
              <a:rPr sz="1200" b="1" i="0" spc="200">
                <a:solidFill>
                  <a:srgbClr val="C9A047"/>
                </a:solidFill>
                <a:latin typeface="Georgia"/>
              </a:rPr>
              <a:t>— PARTE II —</a:t>
            </a:r>
          </a:p>
        </p:txBody>
      </p:sp>
      <p:sp>
        <p:nvSpPr>
          <p:cNvPr id="5" name="TextBox 4"/>
          <p:cNvSpPr txBox="1"/>
          <p:nvPr/>
        </p:nvSpPr>
        <p:spPr>
          <a:xfrm>
            <a:off x="548640" y="2743200"/>
            <a:ext cx="9144000" cy="1828800"/>
          </a:xfrm>
          <a:prstGeom prst="rect">
            <a:avLst/>
          </a:prstGeom>
          <a:noFill/>
        </p:spPr>
        <p:txBody>
          <a:bodyPr wrap="square" lIns="0" rIns="0" tIns="0" bIns="0" anchor="t">
            <a:spAutoFit/>
          </a:bodyPr>
          <a:lstStyle/>
          <a:p>
            <a:pPr algn="l">
              <a:lnSpc>
                <a:spcPct val="105000"/>
              </a:lnSpc>
            </a:pPr>
            <a:r>
              <a:rPr sz="4800" b="0" i="0">
                <a:solidFill>
                  <a:srgbClr val="EEF0F4"/>
                </a:solidFill>
                <a:latin typeface="Georgia"/>
              </a:rPr>
              <a:t>El loop de negocio</a:t>
            </a:r>
          </a:p>
        </p:txBody>
      </p:sp>
      <p:sp>
        <p:nvSpPr>
          <p:cNvPr id="6" name="TextBox 5"/>
          <p:cNvSpPr txBox="1"/>
          <p:nvPr/>
        </p:nvSpPr>
        <p:spPr>
          <a:xfrm>
            <a:off x="548640" y="4572000"/>
            <a:ext cx="7315200" cy="1371600"/>
          </a:xfrm>
          <a:prstGeom prst="rect">
            <a:avLst/>
          </a:prstGeom>
          <a:noFill/>
        </p:spPr>
        <p:txBody>
          <a:bodyPr wrap="square" lIns="0" rIns="0" tIns="0" bIns="0" anchor="t">
            <a:spAutoFit/>
          </a:bodyPr>
          <a:lstStyle/>
          <a:p>
            <a:pPr algn="l">
              <a:lnSpc>
                <a:spcPct val="150000"/>
              </a:lnSpc>
            </a:pPr>
            <a:r>
              <a:rPr sz="1500" b="0" i="1">
                <a:solidFill>
                  <a:srgbClr val="8C95A8"/>
                </a:solidFill>
                <a:latin typeface="Georgia"/>
              </a:rPr>
              <a:t>Cómo se mueve un activo desde que aparece en una fuente externa hasta que termina su contrato RTO 36 meses después.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548640"/>
          </a:xfrm>
          <a:prstGeom prst="rect">
            <a:avLst/>
          </a:prstGeom>
          <a:noFill/>
        </p:spPr>
        <p:txBody>
          <a:bodyPr wrap="square" lIns="0" rIns="0" tIns="0" bIns="0" anchor="t">
            <a:spAutoFit/>
          </a:bodyPr>
          <a:lstStyle/>
          <a:p>
            <a:pPr algn="l">
              <a:lnSpc>
                <a:spcPct val="130000"/>
              </a:lnSpc>
            </a:pPr>
            <a:r>
              <a:rPr sz="3000" b="0" i="0">
                <a:solidFill>
                  <a:srgbClr val="EEF0F4"/>
                </a:solidFill>
                <a:latin typeface="Georgia"/>
              </a:rPr>
              <a:t>Comprar · Renovar · Vender · Cobrar</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EL LOOP COMPLETO</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54864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Cada etapa tiene su tabla, su(s) agente(s) de IA y su superficie de UI. Un mismo registro avanza por las cinco etapas sin salir del sistema y sin re-tipear datos.</a:t>
            </a:r>
          </a:p>
        </p:txBody>
      </p:sp>
      <p:sp>
        <p:nvSpPr>
          <p:cNvPr id="7" name="TextBox 6"/>
          <p:cNvSpPr txBox="1"/>
          <p:nvPr/>
        </p:nvSpPr>
        <p:spPr>
          <a:xfrm>
            <a:off x="548640" y="2194560"/>
            <a:ext cx="146304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ETAPA</a:t>
            </a:r>
          </a:p>
        </p:txBody>
      </p:sp>
      <p:sp>
        <p:nvSpPr>
          <p:cNvPr id="8" name="TextBox 7"/>
          <p:cNvSpPr txBox="1"/>
          <p:nvPr/>
        </p:nvSpPr>
        <p:spPr>
          <a:xfrm>
            <a:off x="2011680" y="2194560"/>
            <a:ext cx="329184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QUÉ OCURRE</a:t>
            </a:r>
          </a:p>
        </p:txBody>
      </p:sp>
      <p:sp>
        <p:nvSpPr>
          <p:cNvPr id="9" name="TextBox 8"/>
          <p:cNvSpPr txBox="1"/>
          <p:nvPr/>
        </p:nvSpPr>
        <p:spPr>
          <a:xfrm>
            <a:off x="5303520" y="2194560"/>
            <a:ext cx="320040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AGENTES / SERVICIOS</a:t>
            </a:r>
          </a:p>
        </p:txBody>
      </p:sp>
      <p:sp>
        <p:nvSpPr>
          <p:cNvPr id="10" name="TextBox 9"/>
          <p:cNvSpPr txBox="1"/>
          <p:nvPr/>
        </p:nvSpPr>
        <p:spPr>
          <a:xfrm>
            <a:off x="8503920" y="2194560"/>
            <a:ext cx="310896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DATOS QUE PRODUCE</a:t>
            </a:r>
          </a:p>
        </p:txBody>
      </p:sp>
      <p:cxnSp>
        <p:nvCxnSpPr>
          <p:cNvPr id="11" name="Connector 10"/>
          <p:cNvCxnSpPr/>
          <p:nvPr/>
        </p:nvCxnSpPr>
        <p:spPr>
          <a:xfrm>
            <a:off x="548640" y="246888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2560320"/>
            <a:ext cx="1325880" cy="59436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1. Detectar</a:t>
            </a:r>
          </a:p>
        </p:txBody>
      </p:sp>
      <p:sp>
        <p:nvSpPr>
          <p:cNvPr id="13" name="TextBox 12"/>
          <p:cNvSpPr txBox="1"/>
          <p:nvPr/>
        </p:nvSpPr>
        <p:spPr>
          <a:xfrm>
            <a:off x="2011680" y="2560320"/>
            <a:ext cx="315468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BuscadorAgent recorre fuentes externas, aplica reglas de Maninos, propone candidatos.</a:t>
            </a:r>
          </a:p>
        </p:txBody>
      </p:sp>
      <p:sp>
        <p:nvSpPr>
          <p:cNvPr id="14" name="TextBox 13"/>
          <p:cNvSpPr txBox="1"/>
          <p:nvPr/>
        </p:nvSpPr>
        <p:spPr>
          <a:xfrm>
            <a:off x="5303520" y="2560320"/>
            <a:ext cx="306324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BuscadorAgent (Playwright + scrapers MHVillage, MobileHome.net, Zillow, FB Marketplace).</a:t>
            </a:r>
          </a:p>
        </p:txBody>
      </p:sp>
      <p:sp>
        <p:nvSpPr>
          <p:cNvPr id="15" name="TextBox 14"/>
          <p:cNvSpPr txBox="1"/>
          <p:nvPr/>
        </p:nvSpPr>
        <p:spPr>
          <a:xfrm>
            <a:off x="8503920" y="2560320"/>
            <a:ext cx="297180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onsolas"/>
              </a:rPr>
              <a:t>market_listings</a:t>
            </a:r>
          </a:p>
        </p:txBody>
      </p:sp>
      <p:cxnSp>
        <p:nvCxnSpPr>
          <p:cNvPr id="16" name="Connector 15"/>
          <p:cNvCxnSpPr/>
          <p:nvPr/>
        </p:nvCxnSpPr>
        <p:spPr>
          <a:xfrm>
            <a:off x="548640" y="315468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3200400"/>
            <a:ext cx="1325880" cy="59436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2. Comprar</a:t>
            </a:r>
          </a:p>
        </p:txBody>
      </p:sp>
      <p:sp>
        <p:nvSpPr>
          <p:cNvPr id="18" name="TextBox 17"/>
          <p:cNvSpPr txBox="1"/>
          <p:nvPr/>
        </p:nvSpPr>
        <p:spPr>
          <a:xfrm>
            <a:off x="2011680" y="3200400"/>
            <a:ext cx="315468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Wizard “Revisar Casa”: fotos, checklist, datos del seller, oferta.</a:t>
            </a:r>
          </a:p>
        </p:txBody>
      </p:sp>
      <p:sp>
        <p:nvSpPr>
          <p:cNvPr id="19" name="TextBox 18"/>
          <p:cNvSpPr txBox="1"/>
          <p:nvPr/>
        </p:nvSpPr>
        <p:spPr>
          <a:xfrm>
            <a:off x="5303520" y="3200400"/>
            <a:ext cx="306324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FotosAgent (clasifica imágenes), VozAgent (notas dictadas en el yard).</a:t>
            </a:r>
          </a:p>
        </p:txBody>
      </p:sp>
      <p:sp>
        <p:nvSpPr>
          <p:cNvPr id="20" name="TextBox 19"/>
          <p:cNvSpPr txBox="1"/>
          <p:nvPr/>
        </p:nvSpPr>
        <p:spPr>
          <a:xfrm>
            <a:off x="8503920" y="3200400"/>
            <a:ext cx="297180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onsolas"/>
              </a:rPr>
              <a:t>properties, title_transfers (purchase)</a:t>
            </a:r>
          </a:p>
        </p:txBody>
      </p:sp>
      <p:cxnSp>
        <p:nvCxnSpPr>
          <p:cNvPr id="21" name="Connector 20"/>
          <p:cNvCxnSpPr/>
          <p:nvPr/>
        </p:nvCxnSpPr>
        <p:spPr>
          <a:xfrm>
            <a:off x="548640" y="379476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3840480"/>
            <a:ext cx="1325880" cy="59436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3. Renovar</a:t>
            </a:r>
          </a:p>
        </p:txBody>
      </p:sp>
      <p:sp>
        <p:nvSpPr>
          <p:cNvPr id="23" name="TextBox 22"/>
          <p:cNvSpPr txBox="1"/>
          <p:nvPr/>
        </p:nvSpPr>
        <p:spPr>
          <a:xfrm>
            <a:off x="2011680" y="3840480"/>
            <a:ext cx="315468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Plan de renovación: materiales, mano de obra, contingencia.</a:t>
            </a:r>
          </a:p>
        </p:txBody>
      </p:sp>
      <p:sp>
        <p:nvSpPr>
          <p:cNvPr id="24" name="TextBox 23"/>
          <p:cNvSpPr txBox="1"/>
          <p:nvPr/>
        </p:nvSpPr>
        <p:spPr>
          <a:xfrm>
            <a:off x="5303520" y="3840480"/>
            <a:ext cx="306324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RenovacionAgent (orquestador), CostosAgent (precios desde DB).</a:t>
            </a:r>
          </a:p>
        </p:txBody>
      </p:sp>
      <p:sp>
        <p:nvSpPr>
          <p:cNvPr id="25" name="TextBox 24"/>
          <p:cNvSpPr txBox="1"/>
          <p:nvPr/>
        </p:nvSpPr>
        <p:spPr>
          <a:xfrm>
            <a:off x="8503920" y="3840480"/>
            <a:ext cx="297180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onsolas"/>
              </a:rPr>
              <a:t>renovations · accounting_transactions</a:t>
            </a:r>
          </a:p>
        </p:txBody>
      </p:sp>
      <p:cxnSp>
        <p:nvCxnSpPr>
          <p:cNvPr id="26" name="Connector 25"/>
          <p:cNvCxnSpPr/>
          <p:nvPr/>
        </p:nvCxnSpPr>
        <p:spPr>
          <a:xfrm>
            <a:off x="548640" y="443484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4480560"/>
            <a:ext cx="1325880" cy="59436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4. Listar y vender</a:t>
            </a:r>
          </a:p>
        </p:txBody>
      </p:sp>
      <p:sp>
        <p:nvSpPr>
          <p:cNvPr id="28" name="TextBox 27"/>
          <p:cNvSpPr txBox="1"/>
          <p:nvPr/>
        </p:nvSpPr>
        <p:spPr>
          <a:xfrm>
            <a:off x="2011680" y="4480560"/>
            <a:ext cx="315468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Precio sugerido. Publicación. Cliente compra contado o solicita RTO.</a:t>
            </a:r>
          </a:p>
        </p:txBody>
      </p:sp>
      <p:sp>
        <p:nvSpPr>
          <p:cNvPr id="29" name="TextBox 28"/>
          <p:cNvSpPr txBox="1"/>
          <p:nvPr/>
        </p:nvSpPr>
        <p:spPr>
          <a:xfrm>
            <a:off x="5303520" y="4480560"/>
            <a:ext cx="306324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PrecioAgent (techo 80% del valor de mercado).</a:t>
            </a:r>
          </a:p>
        </p:txBody>
      </p:sp>
      <p:sp>
        <p:nvSpPr>
          <p:cNvPr id="30" name="TextBox 29"/>
          <p:cNvSpPr txBox="1"/>
          <p:nvPr/>
        </p:nvSpPr>
        <p:spPr>
          <a:xfrm>
            <a:off x="8503920" y="4480560"/>
            <a:ext cx="297180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onsolas"/>
              </a:rPr>
              <a:t>sales, sale_payments, rto_applications</a:t>
            </a:r>
          </a:p>
        </p:txBody>
      </p:sp>
      <p:cxnSp>
        <p:nvCxnSpPr>
          <p:cNvPr id="31" name="Connector 30"/>
          <p:cNvCxnSpPr/>
          <p:nvPr/>
        </p:nvCxnSpPr>
        <p:spPr>
          <a:xfrm>
            <a:off x="548640" y="507492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48640" y="5120640"/>
            <a:ext cx="1325880" cy="59436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5. Cobrar y cerrar</a:t>
            </a:r>
          </a:p>
        </p:txBody>
      </p:sp>
      <p:sp>
        <p:nvSpPr>
          <p:cNvPr id="33" name="TextBox 32"/>
          <p:cNvSpPr txBox="1"/>
          <p:nvPr/>
        </p:nvSpPr>
        <p:spPr>
          <a:xfrm>
            <a:off x="2011680" y="5120640"/>
            <a:ext cx="315468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Pagos mensuales, late fees, mora, transferencia final de título.</a:t>
            </a:r>
          </a:p>
        </p:txBody>
      </p:sp>
      <p:sp>
        <p:nvSpPr>
          <p:cNvPr id="34" name="TextBox 33"/>
          <p:cNvSpPr txBox="1"/>
          <p:nvPr/>
        </p:nvSpPr>
        <p:spPr>
          <a:xfrm>
            <a:off x="5303520" y="5120640"/>
            <a:ext cx="306324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Scheduler title_monitor diario contra TDHCA. Email service para recordatorios.</a:t>
            </a:r>
          </a:p>
        </p:txBody>
      </p:sp>
      <p:sp>
        <p:nvSpPr>
          <p:cNvPr id="35" name="TextBox 34"/>
          <p:cNvSpPr txBox="1"/>
          <p:nvPr/>
        </p:nvSpPr>
        <p:spPr>
          <a:xfrm>
            <a:off x="8503920" y="5120640"/>
            <a:ext cx="2971800" cy="594360"/>
          </a:xfrm>
          <a:prstGeom prst="rect">
            <a:avLst/>
          </a:prstGeom>
          <a:noFill/>
        </p:spPr>
        <p:txBody>
          <a:bodyPr wrap="square" lIns="0" rIns="0" tIns="0" bIns="0" anchor="t">
            <a:spAutoFit/>
          </a:bodyPr>
          <a:lstStyle/>
          <a:p>
            <a:pPr algn="l">
              <a:lnSpc>
                <a:spcPct val="140000"/>
              </a:lnSpc>
            </a:pPr>
            <a:r>
              <a:rPr sz="900" b="0" i="0">
                <a:solidFill>
                  <a:srgbClr val="C7CDD8"/>
                </a:solidFill>
                <a:latin typeface="Consolas"/>
              </a:rPr>
              <a:t>rto_payments, title_transfers (sale), commission_payments</a:t>
            </a:r>
          </a:p>
        </p:txBody>
      </p:sp>
      <p:cxnSp>
        <p:nvCxnSpPr>
          <p:cNvPr id="36" name="Connector 35"/>
          <p:cNvCxnSpPr/>
          <p:nvPr/>
        </p:nvCxnSpPr>
        <p:spPr>
          <a:xfrm>
            <a:off x="548640" y="571500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06  ·  EL LOOP</a:t>
            </a:r>
          </a:p>
        </p:txBody>
      </p:sp>
      <p:sp>
        <p:nvSpPr>
          <p:cNvPr id="38" name="TextBox 37"/>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5 ETAPAS  ·  6 AGENTES  ·  UNA FUENTE DE VERDAD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548640"/>
          </a:xfrm>
          <a:prstGeom prst="rect">
            <a:avLst/>
          </a:prstGeom>
          <a:noFill/>
        </p:spPr>
        <p:txBody>
          <a:bodyPr wrap="square" lIns="0" rIns="0" tIns="0" bIns="0" anchor="t">
            <a:spAutoFit/>
          </a:bodyPr>
          <a:lstStyle/>
          <a:p>
            <a:pPr algn="l">
              <a:lnSpc>
                <a:spcPct val="130000"/>
              </a:lnSpc>
            </a:pPr>
            <a:r>
              <a:rPr sz="3000" b="0" i="0">
                <a:solidFill>
                  <a:srgbClr val="EEF0F4"/>
                </a:solidFill>
                <a:latin typeface="Georgia"/>
              </a:rPr>
              <a:t>Los seis agentes especializados</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CAPA DE IA</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25880"/>
            <a:ext cx="11094415" cy="64008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Cada agente vive en api/agents/, hereda de BaseAgent, opera de forma asíncrona y devuelve JSON estructurado validado por Pydantic. No tienen memoria entre llamadas: el contexto necesario se pasa explícitamente en cada request.</a:t>
            </a:r>
          </a:p>
        </p:txBody>
      </p:sp>
      <p:sp>
        <p:nvSpPr>
          <p:cNvPr id="7" name="TextBox 6"/>
          <p:cNvSpPr txBox="1"/>
          <p:nvPr/>
        </p:nvSpPr>
        <p:spPr>
          <a:xfrm>
            <a:off x="548640" y="2240280"/>
            <a:ext cx="128016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AGENTE</a:t>
            </a:r>
          </a:p>
        </p:txBody>
      </p:sp>
      <p:sp>
        <p:nvSpPr>
          <p:cNvPr id="8" name="TextBox 7"/>
          <p:cNvSpPr txBox="1"/>
          <p:nvPr/>
        </p:nvSpPr>
        <p:spPr>
          <a:xfrm>
            <a:off x="1828800" y="2240280"/>
            <a:ext cx="320040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FUNCIÓN</a:t>
            </a:r>
          </a:p>
        </p:txBody>
      </p:sp>
      <p:sp>
        <p:nvSpPr>
          <p:cNvPr id="9" name="TextBox 8"/>
          <p:cNvSpPr txBox="1"/>
          <p:nvPr/>
        </p:nvSpPr>
        <p:spPr>
          <a:xfrm>
            <a:off x="5029200" y="2240280"/>
            <a:ext cx="658368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DETALLE RELEVANTE</a:t>
            </a:r>
          </a:p>
        </p:txBody>
      </p:sp>
      <p:cxnSp>
        <p:nvCxnSpPr>
          <p:cNvPr id="10" name="Connector 9"/>
          <p:cNvCxnSpPr/>
          <p:nvPr/>
        </p:nvCxnSpPr>
        <p:spPr>
          <a:xfrm>
            <a:off x="548640" y="251460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606040"/>
            <a:ext cx="1143000" cy="50292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Buscador</a:t>
            </a:r>
          </a:p>
        </p:txBody>
      </p:sp>
      <p:sp>
        <p:nvSpPr>
          <p:cNvPr id="12" name="TextBox 11"/>
          <p:cNvSpPr txBox="1"/>
          <p:nvPr/>
        </p:nvSpPr>
        <p:spPr>
          <a:xfrm>
            <a:off x="1828800" y="2606040"/>
            <a:ext cx="306324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Encuentra mobile homes en el mercado que cumplen las reglas de Maninos.</a:t>
            </a:r>
          </a:p>
        </p:txBody>
      </p:sp>
      <p:sp>
        <p:nvSpPr>
          <p:cNvPr id="13" name="TextBox 12"/>
          <p:cNvSpPr txBox="1"/>
          <p:nvPr/>
        </p:nvSpPr>
        <p:spPr>
          <a:xfrm>
            <a:off x="5029200" y="2606040"/>
            <a:ext cx="644652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Scrapea MHVillage, MobileHome.net, MHBay, Zillow, Facebook Marketplace. Filtra por reglas Feb 2026: 60% del valor de mercado, $5K–$80K, 200mi de Houston o Dallas, sin filtro de año.</a:t>
            </a:r>
          </a:p>
        </p:txBody>
      </p:sp>
      <p:cxnSp>
        <p:nvCxnSpPr>
          <p:cNvPr id="14" name="Connector 13"/>
          <p:cNvCxnSpPr/>
          <p:nvPr/>
        </p:nvCxnSpPr>
        <p:spPr>
          <a:xfrm>
            <a:off x="548640" y="307238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3108960"/>
            <a:ext cx="1143000" cy="50292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Costos</a:t>
            </a:r>
          </a:p>
        </p:txBody>
      </p:sp>
      <p:sp>
        <p:nvSpPr>
          <p:cNvPr id="16" name="TextBox 15"/>
          <p:cNvSpPr txBox="1"/>
          <p:nvPr/>
        </p:nvSpPr>
        <p:spPr>
          <a:xfrm>
            <a:off x="1828800" y="3108960"/>
            <a:ext cx="306324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Estima el costo de la renovación.</a:t>
            </a:r>
          </a:p>
        </p:txBody>
      </p:sp>
      <p:sp>
        <p:nvSpPr>
          <p:cNvPr id="17" name="TextBox 16"/>
          <p:cNvSpPr txBox="1"/>
          <p:nvPr/>
        </p:nvSpPr>
        <p:spPr>
          <a:xfrm>
            <a:off x="5029200" y="3108960"/>
            <a:ext cx="644652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Lee el catálogo de materiales desde la base de datos. Devuelve materiales + mano de obra (30–50% material) + contingencia (5–15%) + costo por sqft + factores de riesgo.</a:t>
            </a:r>
          </a:p>
        </p:txBody>
      </p:sp>
      <p:cxnSp>
        <p:nvCxnSpPr>
          <p:cNvPr id="18" name="Connector 17"/>
          <p:cNvCxnSpPr/>
          <p:nvPr/>
        </p:nvCxnSpPr>
        <p:spPr>
          <a:xfrm>
            <a:off x="548640" y="357530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3611880"/>
            <a:ext cx="1143000" cy="50292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Precio</a:t>
            </a:r>
          </a:p>
        </p:txBody>
      </p:sp>
      <p:sp>
        <p:nvSpPr>
          <p:cNvPr id="20" name="TextBox 19"/>
          <p:cNvSpPr txBox="1"/>
          <p:nvPr/>
        </p:nvSpPr>
        <p:spPr>
          <a:xfrm>
            <a:off x="1828800" y="3611880"/>
            <a:ext cx="306324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Propone precio de venta.</a:t>
            </a:r>
          </a:p>
        </p:txBody>
      </p:sp>
      <p:sp>
        <p:nvSpPr>
          <p:cNvPr id="21" name="TextBox 20"/>
          <p:cNvSpPr txBox="1"/>
          <p:nvPr/>
        </p:nvSpPr>
        <p:spPr>
          <a:xfrm>
            <a:off x="5029200" y="3611880"/>
            <a:ext cx="644652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Devuelve cuatro estrategias: mínimo, target, mercado, agresivo. Aplica techo automático del 80% del valor de mercado.</a:t>
            </a:r>
          </a:p>
        </p:txBody>
      </p:sp>
      <p:cxnSp>
        <p:nvCxnSpPr>
          <p:cNvPr id="22" name="Connector 21"/>
          <p:cNvCxnSpPr/>
          <p:nvPr/>
        </p:nvCxnSpPr>
        <p:spPr>
          <a:xfrm>
            <a:off x="548640" y="407822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4114800"/>
            <a:ext cx="1143000" cy="50292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Fotos</a:t>
            </a:r>
          </a:p>
        </p:txBody>
      </p:sp>
      <p:sp>
        <p:nvSpPr>
          <p:cNvPr id="24" name="TextBox 23"/>
          <p:cNvSpPr txBox="1"/>
          <p:nvPr/>
        </p:nvSpPr>
        <p:spPr>
          <a:xfrm>
            <a:off x="1828800" y="4114800"/>
            <a:ext cx="306324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Clasifica fotografías por estado de renovación.</a:t>
            </a:r>
          </a:p>
        </p:txBody>
      </p:sp>
      <p:sp>
        <p:nvSpPr>
          <p:cNvPr id="25" name="TextBox 24"/>
          <p:cNvSpPr txBox="1"/>
          <p:nvPr/>
        </p:nvSpPr>
        <p:spPr>
          <a:xfrm>
            <a:off x="5029200" y="4114800"/>
            <a:ext cx="644652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Vision real (no keywords). Distingue before / after / exterior / interior. Ordena la galería pública: after primero, después exterior, interior, before.</a:t>
            </a:r>
          </a:p>
        </p:txBody>
      </p:sp>
      <p:cxnSp>
        <p:nvCxnSpPr>
          <p:cNvPr id="26" name="Connector 25"/>
          <p:cNvCxnSpPr/>
          <p:nvPr/>
        </p:nvCxnSpPr>
        <p:spPr>
          <a:xfrm>
            <a:off x="548640" y="458114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4617720"/>
            <a:ext cx="1143000" cy="50292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Voz</a:t>
            </a:r>
          </a:p>
        </p:txBody>
      </p:sp>
      <p:sp>
        <p:nvSpPr>
          <p:cNvPr id="28" name="TextBox 27"/>
          <p:cNvSpPr txBox="1"/>
          <p:nvPr/>
        </p:nvSpPr>
        <p:spPr>
          <a:xfrm>
            <a:off x="1828800" y="4617720"/>
            <a:ext cx="306324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Transcribe audio del staff y extrae intención.</a:t>
            </a:r>
          </a:p>
        </p:txBody>
      </p:sp>
      <p:sp>
        <p:nvSpPr>
          <p:cNvPr id="29" name="TextBox 28"/>
          <p:cNvSpPr txBox="1"/>
          <p:nvPr/>
        </p:nvSpPr>
        <p:spPr>
          <a:xfrm>
            <a:off x="5029200" y="4617720"/>
            <a:ext cx="644652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Whisper en español. Detecta si es una nota de inspección, una lista de materiales o una observación. Funciona con Spanglish.</a:t>
            </a:r>
          </a:p>
        </p:txBody>
      </p:sp>
      <p:cxnSp>
        <p:nvCxnSpPr>
          <p:cNvPr id="30" name="Connector 29"/>
          <p:cNvCxnSpPr/>
          <p:nvPr/>
        </p:nvCxnSpPr>
        <p:spPr>
          <a:xfrm>
            <a:off x="548640" y="508406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5120640"/>
            <a:ext cx="1143000" cy="502920"/>
          </a:xfrm>
          <a:prstGeom prst="rect">
            <a:avLst/>
          </a:prstGeom>
          <a:noFill/>
        </p:spPr>
        <p:txBody>
          <a:bodyPr wrap="square" lIns="0" rIns="0" tIns="0" bIns="0" anchor="t">
            <a:spAutoFit/>
          </a:bodyPr>
          <a:lstStyle/>
          <a:p>
            <a:pPr algn="l">
              <a:lnSpc>
                <a:spcPct val="140000"/>
              </a:lnSpc>
            </a:pPr>
            <a:r>
              <a:rPr sz="1000" b="1" i="0">
                <a:solidFill>
                  <a:srgbClr val="EEF0F4"/>
                </a:solidFill>
                <a:latin typeface="Calibri"/>
              </a:rPr>
              <a:t>Renovación</a:t>
            </a:r>
          </a:p>
        </p:txBody>
      </p:sp>
      <p:sp>
        <p:nvSpPr>
          <p:cNvPr id="32" name="TextBox 31"/>
          <p:cNvSpPr txBox="1"/>
          <p:nvPr/>
        </p:nvSpPr>
        <p:spPr>
          <a:xfrm>
            <a:off x="1828800" y="5120640"/>
            <a:ext cx="306324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Conversación guiada para planificar la renovación.</a:t>
            </a:r>
          </a:p>
        </p:txBody>
      </p:sp>
      <p:sp>
        <p:nvSpPr>
          <p:cNvPr id="33" name="TextBox 32"/>
          <p:cNvSpPr txBox="1"/>
          <p:nvPr/>
        </p:nvSpPr>
        <p:spPr>
          <a:xfrm>
            <a:off x="5029200" y="5120640"/>
            <a:ext cx="6446520" cy="502920"/>
          </a:xfrm>
          <a:prstGeom prst="rect">
            <a:avLst/>
          </a:prstGeom>
          <a:noFill/>
        </p:spPr>
        <p:txBody>
          <a:bodyPr wrap="square" lIns="0" rIns="0" tIns="0" bIns="0" anchor="t">
            <a:spAutoFit/>
          </a:bodyPr>
          <a:lstStyle/>
          <a:p>
            <a:pPr algn="l">
              <a:lnSpc>
                <a:spcPct val="140000"/>
              </a:lnSpc>
            </a:pPr>
            <a:r>
              <a:rPr sz="900" b="0" i="0">
                <a:solidFill>
                  <a:srgbClr val="C7CDD8"/>
                </a:solidFill>
                <a:latin typeface="Calibri"/>
              </a:rPr>
              <a:t>Tiene los precios de los materiales embebidos en el prompt (decisión de latencia). Si no hay sqft, no estima — falla loud.</a:t>
            </a:r>
          </a:p>
        </p:txBody>
      </p:sp>
      <p:cxnSp>
        <p:nvCxnSpPr>
          <p:cNvPr id="34" name="Connector 33"/>
          <p:cNvCxnSpPr/>
          <p:nvPr/>
        </p:nvCxnSpPr>
        <p:spPr>
          <a:xfrm>
            <a:off x="548640" y="558698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48640" y="58521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48640" y="5989320"/>
            <a:ext cx="11094415" cy="640080"/>
          </a:xfrm>
          <a:prstGeom prst="rect">
            <a:avLst/>
          </a:prstGeom>
          <a:noFill/>
        </p:spPr>
        <p:txBody>
          <a:bodyPr wrap="square" lIns="0" rIns="0" tIns="0" bIns="0" anchor="t">
            <a:spAutoFit/>
          </a:bodyPr>
          <a:lstStyle/>
          <a:p>
            <a:pPr algn="l">
              <a:lnSpc>
                <a:spcPct val="150000"/>
              </a:lnSpc>
            </a:pPr>
            <a:r>
              <a:rPr sz="1000" b="0" i="1">
                <a:solidFill>
                  <a:srgbClr val="C7CDD8"/>
                </a:solidFill>
                <a:latin typeface="Calibri"/>
              </a:rPr>
              <a:t>Aparte: el chat flotante AIChatWidget que aparece en el portal Homes no usa estos agentes. Llama a /api/ai/chat (gpt-5-mini) con un patrón de tool-calling sobre 19 herramientas de consulta a la base de datos.</a:t>
            </a:r>
          </a:p>
        </p:txBody>
      </p:sp>
      <p:sp>
        <p:nvSpPr>
          <p:cNvPr id="37" name="TextBox 36"/>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07  ·  AGENTES</a:t>
            </a:r>
          </a:p>
        </p:txBody>
      </p:sp>
      <p:sp>
        <p:nvSpPr>
          <p:cNvPr id="38" name="TextBox 37"/>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6 ESPECIALIZADOS  +  1 ASISTENTE CONVERSACIONAL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El scheduler</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AUTOMATIZACIÓN EN BACKGROUND</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64008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APScheduler corriendo en zona horaria US Central. Diez jobs en producción. Cada ejecución, exitosa o fallida, deja registro en la tabla scheduler_runs — el widget en /homes/transfers lee de ahí, no de la memoria del scheduler.</a:t>
            </a:r>
          </a:p>
        </p:txBody>
      </p:sp>
      <p:sp>
        <p:nvSpPr>
          <p:cNvPr id="7" name="TextBox 6"/>
          <p:cNvSpPr txBox="1"/>
          <p:nvPr/>
        </p:nvSpPr>
        <p:spPr>
          <a:xfrm>
            <a:off x="548640" y="2240280"/>
            <a:ext cx="338328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JOB</a:t>
            </a:r>
          </a:p>
        </p:txBody>
      </p:sp>
      <p:sp>
        <p:nvSpPr>
          <p:cNvPr id="8" name="TextBox 7"/>
          <p:cNvSpPr txBox="1"/>
          <p:nvPr/>
        </p:nvSpPr>
        <p:spPr>
          <a:xfrm>
            <a:off x="3931920" y="2240280"/>
            <a:ext cx="210312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CADENCIA</a:t>
            </a:r>
          </a:p>
        </p:txBody>
      </p:sp>
      <p:sp>
        <p:nvSpPr>
          <p:cNvPr id="9" name="TextBox 8"/>
          <p:cNvSpPr txBox="1"/>
          <p:nvPr/>
        </p:nvSpPr>
        <p:spPr>
          <a:xfrm>
            <a:off x="6035040" y="2240280"/>
            <a:ext cx="557784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FUNCIÓN</a:t>
            </a:r>
          </a:p>
        </p:txBody>
      </p:sp>
      <p:cxnSp>
        <p:nvCxnSpPr>
          <p:cNvPr id="10" name="Connector 9"/>
          <p:cNvCxnSpPr/>
          <p:nvPr/>
        </p:nvCxnSpPr>
        <p:spPr>
          <a:xfrm>
            <a:off x="548640" y="251460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587752"/>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process_scheduled_emails</a:t>
            </a:r>
          </a:p>
        </p:txBody>
      </p:sp>
      <p:sp>
        <p:nvSpPr>
          <p:cNvPr id="12" name="TextBox 11"/>
          <p:cNvSpPr txBox="1"/>
          <p:nvPr/>
        </p:nvSpPr>
        <p:spPr>
          <a:xfrm>
            <a:off x="3931920" y="2587752"/>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Cada 30 min</a:t>
            </a:r>
          </a:p>
        </p:txBody>
      </p:sp>
      <p:sp>
        <p:nvSpPr>
          <p:cNvPr id="13" name="TextBox 12"/>
          <p:cNvSpPr txBox="1"/>
          <p:nvPr/>
        </p:nvSpPr>
        <p:spPr>
          <a:xfrm>
            <a:off x="6035040" y="2587752"/>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Envía emails programados pendientes.</a:t>
            </a:r>
          </a:p>
        </p:txBody>
      </p:sp>
      <p:cxnSp>
        <p:nvCxnSpPr>
          <p:cNvPr id="14" name="Connector 13"/>
          <p:cNvCxnSpPr/>
          <p:nvPr/>
        </p:nvCxnSpPr>
        <p:spPr>
          <a:xfrm>
            <a:off x="548640" y="288950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2916936"/>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rto_reminders</a:t>
            </a:r>
          </a:p>
        </p:txBody>
      </p:sp>
      <p:sp>
        <p:nvSpPr>
          <p:cNvPr id="16" name="TextBox 15"/>
          <p:cNvSpPr txBox="1"/>
          <p:nvPr/>
        </p:nvSpPr>
        <p:spPr>
          <a:xfrm>
            <a:off x="3931920" y="2916936"/>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Diario · 8:00 CT</a:t>
            </a:r>
          </a:p>
        </p:txBody>
      </p:sp>
      <p:sp>
        <p:nvSpPr>
          <p:cNvPr id="17" name="TextBox 16"/>
          <p:cNvSpPr txBox="1"/>
          <p:nvPr/>
        </p:nvSpPr>
        <p:spPr>
          <a:xfrm>
            <a:off x="6035040" y="2916936"/>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Recordatorios de pago RTO al cliente (3d antes, día del pago, 1d después).</a:t>
            </a:r>
          </a:p>
        </p:txBody>
      </p:sp>
      <p:cxnSp>
        <p:nvCxnSpPr>
          <p:cNvPr id="18" name="Connector 17"/>
          <p:cNvCxnSpPr/>
          <p:nvPr/>
        </p:nvCxnSpPr>
        <p:spPr>
          <a:xfrm>
            <a:off x="548640" y="3218688"/>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3246120"/>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rto_overdue_alerts</a:t>
            </a:r>
          </a:p>
        </p:txBody>
      </p:sp>
      <p:sp>
        <p:nvSpPr>
          <p:cNvPr id="20" name="TextBox 19"/>
          <p:cNvSpPr txBox="1"/>
          <p:nvPr/>
        </p:nvSpPr>
        <p:spPr>
          <a:xfrm>
            <a:off x="3931920" y="3246120"/>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Diario · 9:00 CT</a:t>
            </a:r>
          </a:p>
        </p:txBody>
      </p:sp>
      <p:sp>
        <p:nvSpPr>
          <p:cNvPr id="21" name="TextBox 20"/>
          <p:cNvSpPr txBox="1"/>
          <p:nvPr/>
        </p:nvSpPr>
        <p:spPr>
          <a:xfrm>
            <a:off x="6035040" y="3246120"/>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Alertas internas para pagos RTO vencidos.</a:t>
            </a:r>
          </a:p>
        </p:txBody>
      </p:sp>
      <p:cxnSp>
        <p:nvCxnSpPr>
          <p:cNvPr id="22" name="Connector 21"/>
          <p:cNvCxnSpPr/>
          <p:nvPr/>
        </p:nvCxnSpPr>
        <p:spPr>
          <a:xfrm>
            <a:off x="548640" y="3547872"/>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3575304"/>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promissory_maturity_alerts</a:t>
            </a:r>
          </a:p>
        </p:txBody>
      </p:sp>
      <p:sp>
        <p:nvSpPr>
          <p:cNvPr id="24" name="TextBox 23"/>
          <p:cNvSpPr txBox="1"/>
          <p:nvPr/>
        </p:nvSpPr>
        <p:spPr>
          <a:xfrm>
            <a:off x="3931920" y="3575304"/>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Diario · 9:30 CT</a:t>
            </a:r>
          </a:p>
        </p:txBody>
      </p:sp>
      <p:sp>
        <p:nvSpPr>
          <p:cNvPr id="25" name="TextBox 24"/>
          <p:cNvSpPr txBox="1"/>
          <p:nvPr/>
        </p:nvSpPr>
        <p:spPr>
          <a:xfrm>
            <a:off x="6035040" y="3575304"/>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Avisa al equipo de pagarés a vencer (90 / 60 / 30 días).</a:t>
            </a:r>
          </a:p>
        </p:txBody>
      </p:sp>
      <p:cxnSp>
        <p:nvCxnSpPr>
          <p:cNvPr id="26" name="Connector 25"/>
          <p:cNvCxnSpPr/>
          <p:nvPr/>
        </p:nvCxnSpPr>
        <p:spPr>
          <a:xfrm>
            <a:off x="548640" y="3877056"/>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3904488"/>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title_monitor</a:t>
            </a:r>
          </a:p>
        </p:txBody>
      </p:sp>
      <p:sp>
        <p:nvSpPr>
          <p:cNvPr id="28" name="TextBox 27"/>
          <p:cNvSpPr txBox="1"/>
          <p:nvPr/>
        </p:nvSpPr>
        <p:spPr>
          <a:xfrm>
            <a:off x="3931920" y="3904488"/>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Diario · 10:00 CT</a:t>
            </a:r>
          </a:p>
        </p:txBody>
      </p:sp>
      <p:sp>
        <p:nvSpPr>
          <p:cNvPr id="29" name="TextBox 28"/>
          <p:cNvSpPr txBox="1"/>
          <p:nvPr/>
        </p:nvSpPr>
        <p:spPr>
          <a:xfrm>
            <a:off x="6035040" y="3904488"/>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Consulta TDHCA por cada serial pendiente, fuzzy-match del nombre.</a:t>
            </a:r>
          </a:p>
        </p:txBody>
      </p:sp>
      <p:cxnSp>
        <p:nvCxnSpPr>
          <p:cNvPr id="30" name="Connector 29"/>
          <p:cNvCxnSpPr/>
          <p:nvPr/>
        </p:nvCxnSpPr>
        <p:spPr>
          <a:xfrm>
            <a:off x="548640" y="420624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4233672"/>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investor_followup_emails</a:t>
            </a:r>
          </a:p>
        </p:txBody>
      </p:sp>
      <p:sp>
        <p:nvSpPr>
          <p:cNvPr id="32" name="TextBox 31"/>
          <p:cNvSpPr txBox="1"/>
          <p:nvPr/>
        </p:nvSpPr>
        <p:spPr>
          <a:xfrm>
            <a:off x="3931920" y="4233672"/>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Día 1 · 10:30 CT</a:t>
            </a:r>
          </a:p>
        </p:txBody>
      </p:sp>
      <p:sp>
        <p:nvSpPr>
          <p:cNvPr id="33" name="TextBox 32"/>
          <p:cNvSpPr txBox="1"/>
          <p:nvPr/>
        </p:nvSpPr>
        <p:spPr>
          <a:xfrm>
            <a:off x="6035040" y="4233672"/>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Estado mensual a cada inversor con su PDF.</a:t>
            </a:r>
          </a:p>
        </p:txBody>
      </p:sp>
      <p:cxnSp>
        <p:nvCxnSpPr>
          <p:cNvPr id="34" name="Connector 33"/>
          <p:cNvCxnSpPr/>
          <p:nvPr/>
        </p:nvCxnSpPr>
        <p:spPr>
          <a:xfrm>
            <a:off x="548640" y="453542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4562856"/>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portal_sync</a:t>
            </a:r>
          </a:p>
        </p:txBody>
      </p:sp>
      <p:sp>
        <p:nvSpPr>
          <p:cNvPr id="36" name="TextBox 35"/>
          <p:cNvSpPr txBox="1"/>
          <p:nvPr/>
        </p:nvSpPr>
        <p:spPr>
          <a:xfrm>
            <a:off x="3931920" y="4562856"/>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Cada 2 horas</a:t>
            </a:r>
          </a:p>
        </p:txBody>
      </p:sp>
      <p:sp>
        <p:nvSpPr>
          <p:cNvPr id="37" name="TextBox 36"/>
          <p:cNvSpPr txBox="1"/>
          <p:nvPr/>
        </p:nvSpPr>
        <p:spPr>
          <a:xfrm>
            <a:off x="6035040" y="4562856"/>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Consistencia cruzada Homes ↔ Capital.</a:t>
            </a:r>
          </a:p>
        </p:txBody>
      </p:sp>
      <p:cxnSp>
        <p:nvCxnSpPr>
          <p:cNvPr id="38" name="Connector 37"/>
          <p:cNvCxnSpPr/>
          <p:nvPr/>
        </p:nvCxnSpPr>
        <p:spPr>
          <a:xfrm>
            <a:off x="548640" y="4864608"/>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48640" y="4892040"/>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refresh_partner_listings</a:t>
            </a:r>
          </a:p>
        </p:txBody>
      </p:sp>
      <p:sp>
        <p:nvSpPr>
          <p:cNvPr id="40" name="TextBox 39"/>
          <p:cNvSpPr txBox="1"/>
          <p:nvPr/>
        </p:nvSpPr>
        <p:spPr>
          <a:xfrm>
            <a:off x="3931920" y="4892040"/>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Cada 6 horas</a:t>
            </a:r>
          </a:p>
        </p:txBody>
      </p:sp>
      <p:sp>
        <p:nvSpPr>
          <p:cNvPr id="41" name="TextBox 40"/>
          <p:cNvSpPr txBox="1"/>
          <p:nvPr/>
        </p:nvSpPr>
        <p:spPr>
          <a:xfrm>
            <a:off x="6035040" y="4892040"/>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Refresca listings de VMF Homes y 21st Mortgage.</a:t>
            </a:r>
          </a:p>
        </p:txBody>
      </p:sp>
      <p:cxnSp>
        <p:nvCxnSpPr>
          <p:cNvPr id="42" name="Connector 41"/>
          <p:cNvCxnSpPr/>
          <p:nvPr/>
        </p:nvCxnSpPr>
        <p:spPr>
          <a:xfrm>
            <a:off x="548640" y="5193792"/>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48640" y="5221224"/>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facebook_auto_scrape</a:t>
            </a:r>
          </a:p>
        </p:txBody>
      </p:sp>
      <p:sp>
        <p:nvSpPr>
          <p:cNvPr id="44" name="TextBox 43"/>
          <p:cNvSpPr txBox="1"/>
          <p:nvPr/>
        </p:nvSpPr>
        <p:spPr>
          <a:xfrm>
            <a:off x="3931920" y="5221224"/>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Lun y Jue · 7:00 CT</a:t>
            </a:r>
          </a:p>
        </p:txBody>
      </p:sp>
      <p:sp>
        <p:nvSpPr>
          <p:cNvPr id="45" name="TextBox 44"/>
          <p:cNvSpPr txBox="1"/>
          <p:nvPr/>
        </p:nvSpPr>
        <p:spPr>
          <a:xfrm>
            <a:off x="6035040" y="5221224"/>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Scraping de Facebook Marketplace vía Apify.</a:t>
            </a:r>
          </a:p>
        </p:txBody>
      </p:sp>
      <p:cxnSp>
        <p:nvCxnSpPr>
          <p:cNvPr id="46" name="Connector 45"/>
          <p:cNvCxnSpPr/>
          <p:nvPr/>
        </p:nvCxnSpPr>
        <p:spPr>
          <a:xfrm>
            <a:off x="548640" y="5522976"/>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548640" y="5550408"/>
            <a:ext cx="3246120" cy="365760"/>
          </a:xfrm>
          <a:prstGeom prst="rect">
            <a:avLst/>
          </a:prstGeom>
          <a:noFill/>
        </p:spPr>
        <p:txBody>
          <a:bodyPr wrap="square" lIns="0" rIns="0" tIns="0" bIns="0" anchor="t">
            <a:spAutoFit/>
          </a:bodyPr>
          <a:lstStyle/>
          <a:p>
            <a:pPr algn="l">
              <a:lnSpc>
                <a:spcPct val="130000"/>
              </a:lnSpc>
            </a:pPr>
            <a:r>
              <a:rPr sz="1000" b="1" i="0">
                <a:solidFill>
                  <a:srgbClr val="E6CF95"/>
                </a:solidFill>
                <a:latin typeface="Consolas"/>
              </a:rPr>
              <a:t>expire_old_listings</a:t>
            </a:r>
          </a:p>
        </p:txBody>
      </p:sp>
      <p:sp>
        <p:nvSpPr>
          <p:cNvPr id="48" name="TextBox 47"/>
          <p:cNvSpPr txBox="1"/>
          <p:nvPr/>
        </p:nvSpPr>
        <p:spPr>
          <a:xfrm>
            <a:off x="3931920" y="5550408"/>
            <a:ext cx="196596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Diario · 6:00 CT</a:t>
            </a:r>
          </a:p>
        </p:txBody>
      </p:sp>
      <p:sp>
        <p:nvSpPr>
          <p:cNvPr id="49" name="TextBox 48"/>
          <p:cNvSpPr txBox="1"/>
          <p:nvPr/>
        </p:nvSpPr>
        <p:spPr>
          <a:xfrm>
            <a:off x="6035040" y="5550408"/>
            <a:ext cx="5440680" cy="365760"/>
          </a:xfrm>
          <a:prstGeom prst="rect">
            <a:avLst/>
          </a:prstGeom>
          <a:noFill/>
        </p:spPr>
        <p:txBody>
          <a:bodyPr wrap="square" lIns="0" rIns="0" tIns="0" bIns="0" anchor="t">
            <a:spAutoFit/>
          </a:bodyPr>
          <a:lstStyle/>
          <a:p>
            <a:pPr algn="l">
              <a:lnSpc>
                <a:spcPct val="130000"/>
              </a:lnSpc>
            </a:pPr>
            <a:r>
              <a:rPr sz="950" b="0" i="0">
                <a:solidFill>
                  <a:srgbClr val="C7CDD8"/>
                </a:solidFill>
                <a:latin typeface="Calibri"/>
              </a:rPr>
              <a:t>Marca como expirados listings con más de 14 días.</a:t>
            </a:r>
          </a:p>
        </p:txBody>
      </p:sp>
      <p:cxnSp>
        <p:nvCxnSpPr>
          <p:cNvPr id="50" name="Connector 49"/>
          <p:cNvCxnSpPr/>
          <p:nvPr/>
        </p:nvCxnSpPr>
        <p:spPr>
          <a:xfrm>
            <a:off x="548640" y="5852160"/>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08  ·  SCHEDULER</a:t>
            </a:r>
          </a:p>
        </p:txBody>
      </p:sp>
      <p:sp>
        <p:nvSpPr>
          <p:cNvPr id="52" name="TextBox 51"/>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10 JOBS  ·  US CENTRAL  ·  AUDIT EN scheduler_runs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548640"/>
          </a:xfrm>
          <a:prstGeom prst="rect">
            <a:avLst/>
          </a:prstGeom>
          <a:noFill/>
        </p:spPr>
        <p:txBody>
          <a:bodyPr wrap="square" lIns="0" rIns="0" tIns="0" bIns="0" anchor="t">
            <a:spAutoFit/>
          </a:bodyPr>
          <a:lstStyle/>
          <a:p>
            <a:pPr algn="l">
              <a:lnSpc>
                <a:spcPct val="130000"/>
              </a:lnSpc>
            </a:pPr>
            <a:r>
              <a:rPr sz="3000" b="0" i="0">
                <a:solidFill>
                  <a:srgbClr val="EEF0F4"/>
                </a:solidFill>
                <a:latin typeface="Georgia"/>
              </a:rPr>
              <a:t>El flujo del título estatal</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TDHCA Y HERENCIA</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64008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En Texas, la transferencia de propiedad de un mobile home se registra en TDHCA mediante el Statement of Ownership. Maninos OS automatiza el seguimiento.</a:t>
            </a:r>
          </a:p>
        </p:txBody>
      </p:sp>
      <p:sp>
        <p:nvSpPr>
          <p:cNvPr id="7" name="TextBox 6"/>
          <p:cNvSpPr txBox="1"/>
          <p:nvPr/>
        </p:nvSpPr>
        <p:spPr>
          <a:xfrm>
            <a:off x="548640" y="228600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FLUJO AUTOMÁTICO</a:t>
            </a:r>
          </a:p>
        </p:txBody>
      </p:sp>
      <p:sp>
        <p:nvSpPr>
          <p:cNvPr id="8" name="TextBox 7"/>
          <p:cNvSpPr txBox="1"/>
          <p:nvPr/>
        </p:nvSpPr>
        <p:spPr>
          <a:xfrm>
            <a:off x="548640" y="2606040"/>
            <a:ext cx="5272887" cy="54864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1.  Al subir el documento de aplicación de título, el agente extrae el HUD label / serial.</a:t>
            </a:r>
          </a:p>
        </p:txBody>
      </p:sp>
      <p:sp>
        <p:nvSpPr>
          <p:cNvPr id="9" name="TextBox 8"/>
          <p:cNvSpPr txBox="1"/>
          <p:nvPr/>
        </p:nvSpPr>
        <p:spPr>
          <a:xfrm>
            <a:off x="548640" y="3108960"/>
            <a:ext cx="5272887" cy="54864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2.  Si la aplicación de título no tiene el dato, fallback al Bill of Sale (bos_purchase.hud_label_number).</a:t>
            </a:r>
          </a:p>
        </p:txBody>
      </p:sp>
      <p:sp>
        <p:nvSpPr>
          <p:cNvPr id="10" name="TextBox 9"/>
          <p:cNvSpPr txBox="1"/>
          <p:nvPr/>
        </p:nvSpPr>
        <p:spPr>
          <a:xfrm>
            <a:off x="548640" y="3611880"/>
            <a:ext cx="5272887" cy="54864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3.  El job diario de las 10:00 CT consulta el portal TDHCA por cada serial pendiente.</a:t>
            </a:r>
          </a:p>
        </p:txBody>
      </p:sp>
      <p:sp>
        <p:nvSpPr>
          <p:cNvPr id="11" name="TextBox 10"/>
          <p:cNvSpPr txBox="1"/>
          <p:nvPr/>
        </p:nvSpPr>
        <p:spPr>
          <a:xfrm>
            <a:off x="548640" y="4114800"/>
            <a:ext cx="5272887" cy="54864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4.  Compara el nombre que devuelve TDHCA contra to_name con un fuzzy-match.</a:t>
            </a:r>
          </a:p>
        </p:txBody>
      </p:sp>
      <p:sp>
        <p:nvSpPr>
          <p:cNvPr id="12" name="TextBox 11"/>
          <p:cNvSpPr txBox="1"/>
          <p:nvPr/>
        </p:nvSpPr>
        <p:spPr>
          <a:xfrm>
            <a:off x="548640" y="4617720"/>
            <a:ext cx="5272887" cy="54864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5.  Si coinciden, marca title_name_updated = TRUE, registra el nombre en tdhca_owner_name, mueve la transferencia a completed.</a:t>
            </a:r>
          </a:p>
        </p:txBody>
      </p:sp>
      <p:sp>
        <p:nvSpPr>
          <p:cNvPr id="13" name="TextBox 12"/>
          <p:cNvSpPr txBox="1"/>
          <p:nvPr/>
        </p:nvSpPr>
        <p:spPr>
          <a:xfrm>
            <a:off x="6370167" y="228600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CASAS LEGACY</a:t>
            </a:r>
          </a:p>
        </p:txBody>
      </p:sp>
      <p:sp>
        <p:nvSpPr>
          <p:cNvPr id="14" name="TextBox 13"/>
          <p:cNvSpPr txBox="1"/>
          <p:nvPr/>
        </p:nvSpPr>
        <p:spPr>
          <a:xfrm>
            <a:off x="6370167" y="2606040"/>
            <a:ext cx="5272887" cy="64008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Las casas vendidas antes de la plataforma no están en el sistema y su transferencia ya se hizo fuera. Para incorporarlas, el portal Homes ofrece la subida manual:</a:t>
            </a:r>
          </a:p>
        </p:txBody>
      </p:sp>
      <p:sp>
        <p:nvSpPr>
          <p:cNvPr id="15" name="TextBox 14"/>
          <p:cNvSpPr txBox="1"/>
          <p:nvPr/>
        </p:nvSpPr>
        <p:spPr>
          <a:xfrm>
            <a:off x="6370167" y="352044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Permite crear la propiedad y la transferencia desde cero o desde una propiedad existente.</a:t>
            </a:r>
          </a:p>
        </p:txBody>
      </p:sp>
      <p:sp>
        <p:nvSpPr>
          <p:cNvPr id="16" name="TextBox 15"/>
          <p:cNvSpPr txBox="1"/>
          <p:nvPr/>
        </p:nvSpPr>
        <p:spPr>
          <a:xfrm>
            <a:off x="6370167" y="39319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Si la casa está vendida, pide el comprador y crea la transferencia de venta correspondiente.</a:t>
            </a:r>
          </a:p>
        </p:txBody>
      </p:sp>
      <p:sp>
        <p:nvSpPr>
          <p:cNvPr id="17" name="TextBox 16"/>
          <p:cNvSpPr txBox="1"/>
          <p:nvPr/>
        </p:nvSpPr>
        <p:spPr>
          <a:xfrm>
            <a:off x="6370167" y="434340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Marca is_manual_upload = TRUE y title_name_updated = TRUE para que el job diario las ignore.</a:t>
            </a:r>
          </a:p>
        </p:txBody>
      </p:sp>
      <p:sp>
        <p:nvSpPr>
          <p:cNvPr id="18" name="TextBox 17"/>
          <p:cNvSpPr txBox="1"/>
          <p:nvPr/>
        </p:nvSpPr>
        <p:spPr>
          <a:xfrm>
            <a:off x="6370167" y="475488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El serial mostrado en el listado es un link directo a la ficha pública de TDHCA.</a:t>
            </a:r>
          </a:p>
        </p:txBody>
      </p:sp>
      <p:sp>
        <p:nvSpPr>
          <p:cNvPr id="19" name="TextBox 18"/>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09  ·  TÍTULOS</a:t>
            </a:r>
          </a:p>
        </p:txBody>
      </p:sp>
      <p:sp>
        <p:nvSpPr>
          <p:cNvPr id="20" name="TextBox 19"/>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TDHCA + MANUAL  ·  AUDIT CADA NOCHE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548640"/>
          </a:xfrm>
          <a:prstGeom prst="rect">
            <a:avLst/>
          </a:prstGeom>
          <a:noFill/>
        </p:spPr>
        <p:txBody>
          <a:bodyPr wrap="square" lIns="0" rIns="0" tIns="0" bIns="0" anchor="t">
            <a:spAutoFit/>
          </a:bodyPr>
          <a:lstStyle/>
          <a:p>
            <a:pPr algn="l">
              <a:lnSpc>
                <a:spcPct val="130000"/>
              </a:lnSpc>
            </a:pPr>
            <a:r>
              <a:rPr sz="3000" b="0" i="0">
                <a:solidFill>
                  <a:srgbClr val="EEF0F4"/>
                </a:solidFill>
                <a:latin typeface="Georgia"/>
              </a:rPr>
              <a:t>El módulo de financiamiento propio</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RTO EN DETALLE</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64008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El contrato base es el Texas Residential Lease With Purchase Option (33 cláusulas). Los defaults numéricos están escritos en el código y son configurables por contrato.</a:t>
            </a:r>
          </a:p>
        </p:txBody>
      </p:sp>
      <p:cxnSp>
        <p:nvCxnSpPr>
          <p:cNvPr id="7" name="Connector 6"/>
          <p:cNvCxnSpPr/>
          <p:nvPr/>
        </p:nvCxnSpPr>
        <p:spPr>
          <a:xfrm>
            <a:off x="548640" y="228600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 y="31089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2423160"/>
            <a:ext cx="2218883" cy="457200"/>
          </a:xfrm>
          <a:prstGeom prst="rect">
            <a:avLst/>
          </a:prstGeom>
          <a:noFill/>
        </p:spPr>
        <p:txBody>
          <a:bodyPr wrap="square" lIns="0" rIns="0" tIns="0" bIns="0" anchor="t">
            <a:spAutoFit/>
          </a:bodyPr>
          <a:lstStyle/>
          <a:p>
            <a:pPr algn="l">
              <a:lnSpc>
                <a:spcPct val="100000"/>
              </a:lnSpc>
            </a:pPr>
            <a:r>
              <a:rPr sz="2400" b="0" i="0">
                <a:solidFill>
                  <a:srgbClr val="EEF0F4"/>
                </a:solidFill>
                <a:latin typeface="Georgia"/>
              </a:rPr>
              <a:t>$15</a:t>
            </a:r>
            <a:r>
              <a:rPr sz="1100" b="0" i="0">
                <a:solidFill>
                  <a:srgbClr val="8C95A8"/>
                </a:solidFill>
                <a:latin typeface="Calibri"/>
              </a:rPr>
              <a:t>/día</a:t>
            </a:r>
          </a:p>
        </p:txBody>
      </p:sp>
      <p:sp>
        <p:nvSpPr>
          <p:cNvPr id="10" name="TextBox 9"/>
          <p:cNvSpPr txBox="1"/>
          <p:nvPr/>
        </p:nvSpPr>
        <p:spPr>
          <a:xfrm>
            <a:off x="594360" y="292608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LATE FEE</a:t>
            </a:r>
          </a:p>
        </p:txBody>
      </p:sp>
      <p:cxnSp>
        <p:nvCxnSpPr>
          <p:cNvPr id="11" name="Connector 10"/>
          <p:cNvCxnSpPr/>
          <p:nvPr/>
        </p:nvCxnSpPr>
        <p:spPr>
          <a:xfrm>
            <a:off x="2767523.0" y="233172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813243" y="2423160"/>
            <a:ext cx="2218883" cy="457200"/>
          </a:xfrm>
          <a:prstGeom prst="rect">
            <a:avLst/>
          </a:prstGeom>
          <a:noFill/>
        </p:spPr>
        <p:txBody>
          <a:bodyPr wrap="square" lIns="0" rIns="0" tIns="0" bIns="0" anchor="t">
            <a:spAutoFit/>
          </a:bodyPr>
          <a:lstStyle/>
          <a:p>
            <a:pPr algn="l">
              <a:lnSpc>
                <a:spcPct val="100000"/>
              </a:lnSpc>
            </a:pPr>
            <a:r>
              <a:rPr sz="2400" b="0" i="0">
                <a:solidFill>
                  <a:srgbClr val="EEF0F4"/>
                </a:solidFill>
                <a:latin typeface="Georgia"/>
              </a:rPr>
              <a:t>5</a:t>
            </a:r>
            <a:r>
              <a:rPr sz="1100" b="0" i="0">
                <a:solidFill>
                  <a:srgbClr val="8C95A8"/>
                </a:solidFill>
                <a:latin typeface="Calibri"/>
              </a:rPr>
              <a:t> días</a:t>
            </a:r>
          </a:p>
        </p:txBody>
      </p:sp>
      <p:sp>
        <p:nvSpPr>
          <p:cNvPr id="13" name="TextBox 12"/>
          <p:cNvSpPr txBox="1"/>
          <p:nvPr/>
        </p:nvSpPr>
        <p:spPr>
          <a:xfrm>
            <a:off x="2813243" y="292608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PERÍODO DE GRACIA</a:t>
            </a:r>
          </a:p>
        </p:txBody>
      </p:sp>
      <p:cxnSp>
        <p:nvCxnSpPr>
          <p:cNvPr id="14" name="Connector 13"/>
          <p:cNvCxnSpPr/>
          <p:nvPr/>
        </p:nvCxnSpPr>
        <p:spPr>
          <a:xfrm>
            <a:off x="4986406.0" y="233172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32126" y="2423160"/>
            <a:ext cx="2218883" cy="457200"/>
          </a:xfrm>
          <a:prstGeom prst="rect">
            <a:avLst/>
          </a:prstGeom>
          <a:noFill/>
        </p:spPr>
        <p:txBody>
          <a:bodyPr wrap="square" lIns="0" rIns="0" tIns="0" bIns="0" anchor="t">
            <a:spAutoFit/>
          </a:bodyPr>
          <a:lstStyle/>
          <a:p>
            <a:pPr algn="l">
              <a:lnSpc>
                <a:spcPct val="100000"/>
              </a:lnSpc>
            </a:pPr>
            <a:r>
              <a:rPr sz="2400" b="0" i="0">
                <a:solidFill>
                  <a:srgbClr val="EEF0F4"/>
                </a:solidFill>
                <a:latin typeface="Georgia"/>
              </a:rPr>
              <a:t>15</a:t>
            </a:r>
            <a:r>
              <a:rPr sz="1100" b="0" i="0">
                <a:solidFill>
                  <a:srgbClr val="8C95A8"/>
                </a:solidFill>
                <a:latin typeface="Calibri"/>
              </a:rPr>
              <a:t/>
            </a:r>
          </a:p>
        </p:txBody>
      </p:sp>
      <p:sp>
        <p:nvSpPr>
          <p:cNvPr id="16" name="TextBox 15"/>
          <p:cNvSpPr txBox="1"/>
          <p:nvPr/>
        </p:nvSpPr>
        <p:spPr>
          <a:xfrm>
            <a:off x="5032126" y="292608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DÍA DEL MES DE VENCIMIENTO</a:t>
            </a:r>
          </a:p>
        </p:txBody>
      </p:sp>
      <p:cxnSp>
        <p:nvCxnSpPr>
          <p:cNvPr id="17" name="Connector 16"/>
          <p:cNvCxnSpPr/>
          <p:nvPr/>
        </p:nvCxnSpPr>
        <p:spPr>
          <a:xfrm>
            <a:off x="7205289.0" y="233172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251009" y="2423160"/>
            <a:ext cx="2218883" cy="457200"/>
          </a:xfrm>
          <a:prstGeom prst="rect">
            <a:avLst/>
          </a:prstGeom>
          <a:noFill/>
        </p:spPr>
        <p:txBody>
          <a:bodyPr wrap="square" lIns="0" rIns="0" tIns="0" bIns="0" anchor="t">
            <a:spAutoFit/>
          </a:bodyPr>
          <a:lstStyle/>
          <a:p>
            <a:pPr algn="l">
              <a:lnSpc>
                <a:spcPct val="100000"/>
              </a:lnSpc>
            </a:pPr>
            <a:r>
              <a:rPr sz="2400" b="0" i="0">
                <a:solidFill>
                  <a:srgbClr val="EEF0F4"/>
                </a:solidFill>
                <a:latin typeface="Georgia"/>
              </a:rPr>
              <a:t>$250</a:t>
            </a:r>
            <a:r>
              <a:rPr sz="1100" b="0" i="0">
                <a:solidFill>
                  <a:srgbClr val="8C95A8"/>
                </a:solidFill>
                <a:latin typeface="Calibri"/>
              </a:rPr>
              <a:t/>
            </a:r>
          </a:p>
        </p:txBody>
      </p:sp>
      <p:sp>
        <p:nvSpPr>
          <p:cNvPr id="19" name="TextBox 18"/>
          <p:cNvSpPr txBox="1"/>
          <p:nvPr/>
        </p:nvSpPr>
        <p:spPr>
          <a:xfrm>
            <a:off x="7251009" y="292608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NSF FEE</a:t>
            </a:r>
          </a:p>
        </p:txBody>
      </p:sp>
      <p:cxnSp>
        <p:nvCxnSpPr>
          <p:cNvPr id="20" name="Connector 19"/>
          <p:cNvCxnSpPr/>
          <p:nvPr/>
        </p:nvCxnSpPr>
        <p:spPr>
          <a:xfrm>
            <a:off x="9424172.0" y="233172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469892" y="2423160"/>
            <a:ext cx="2218883" cy="457200"/>
          </a:xfrm>
          <a:prstGeom prst="rect">
            <a:avLst/>
          </a:prstGeom>
          <a:noFill/>
        </p:spPr>
        <p:txBody>
          <a:bodyPr wrap="square" lIns="0" rIns="0" tIns="0" bIns="0" anchor="t">
            <a:spAutoFit/>
          </a:bodyPr>
          <a:lstStyle/>
          <a:p>
            <a:pPr algn="l">
              <a:lnSpc>
                <a:spcPct val="100000"/>
              </a:lnSpc>
            </a:pPr>
            <a:r>
              <a:rPr sz="2400" b="0" i="0">
                <a:solidFill>
                  <a:srgbClr val="EEF0F4"/>
                </a:solidFill>
                <a:latin typeface="Georgia"/>
              </a:rPr>
              <a:t>$695</a:t>
            </a:r>
            <a:r>
              <a:rPr sz="1100" b="0" i="0">
                <a:solidFill>
                  <a:srgbClr val="8C95A8"/>
                </a:solidFill>
                <a:latin typeface="Calibri"/>
              </a:rPr>
              <a:t>/mes</a:t>
            </a:r>
          </a:p>
        </p:txBody>
      </p:sp>
      <p:sp>
        <p:nvSpPr>
          <p:cNvPr id="22" name="TextBox 21"/>
          <p:cNvSpPr txBox="1"/>
          <p:nvPr/>
        </p:nvSpPr>
        <p:spPr>
          <a:xfrm>
            <a:off x="9469892" y="292608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HOLDOVER</a:t>
            </a:r>
          </a:p>
        </p:txBody>
      </p:sp>
      <p:sp>
        <p:nvSpPr>
          <p:cNvPr id="23" name="TextBox 22"/>
          <p:cNvSpPr txBox="1"/>
          <p:nvPr/>
        </p:nvSpPr>
        <p:spPr>
          <a:xfrm>
            <a:off x="548640" y="3246120"/>
            <a:ext cx="11094415" cy="274320"/>
          </a:xfrm>
          <a:prstGeom prst="rect">
            <a:avLst/>
          </a:prstGeom>
          <a:noFill/>
        </p:spPr>
        <p:txBody>
          <a:bodyPr wrap="square" lIns="0" rIns="0" tIns="0" bIns="0" anchor="t">
            <a:spAutoFit/>
          </a:bodyPr>
          <a:lstStyle/>
          <a:p>
            <a:pPr algn="l">
              <a:lnSpc>
                <a:spcPct val="130000"/>
              </a:lnSpc>
            </a:pPr>
            <a:r>
              <a:rPr sz="900" b="0" i="1">
                <a:solidFill>
                  <a:srgbClr val="8C95A8"/>
                </a:solidFill>
                <a:latin typeface="Calibri"/>
              </a:rPr>
              <a:t>Defaults aplicados por la migración 012_maninos_capital.sql. Cada contrato puede sobrescribirlos.</a:t>
            </a:r>
          </a:p>
        </p:txBody>
      </p:sp>
      <p:cxnSp>
        <p:nvCxnSpPr>
          <p:cNvPr id="24" name="Connector 23"/>
          <p:cNvCxnSpPr/>
          <p:nvPr/>
        </p:nvCxnSpPr>
        <p:spPr>
          <a:xfrm>
            <a:off x="548640" y="370332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388620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LO QUE EL DEALER VE CADA DÍA</a:t>
            </a:r>
          </a:p>
        </p:txBody>
      </p:sp>
      <p:sp>
        <p:nvSpPr>
          <p:cNvPr id="26" name="TextBox 25"/>
          <p:cNvSpPr txBox="1"/>
          <p:nvPr/>
        </p:nvSpPr>
        <p:spPr>
          <a:xfrm>
            <a:off x="548640" y="420624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Solicitudes RTO entrantes con su scoring de underwriting</a:t>
            </a:r>
          </a:p>
        </p:txBody>
      </p:sp>
      <p:sp>
        <p:nvSpPr>
          <p:cNvPr id="27" name="TextBox 26"/>
          <p:cNvSpPr txBox="1"/>
          <p:nvPr/>
        </p:nvSpPr>
        <p:spPr>
          <a:xfrm>
            <a:off x="548640" y="452628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Pagos del mes con su confirmación pendiente o aplicada</a:t>
            </a:r>
          </a:p>
        </p:txBody>
      </p:sp>
      <p:sp>
        <p:nvSpPr>
          <p:cNvPr id="28" name="TextBox 27"/>
          <p:cNvSpPr txBox="1"/>
          <p:nvPr/>
        </p:nvSpPr>
        <p:spPr>
          <a:xfrm>
            <a:off x="548640" y="484632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Cartera vencida segmentada por aging (0–30, 31–60, 61–90, 90+)</a:t>
            </a:r>
          </a:p>
        </p:txBody>
      </p:sp>
      <p:sp>
        <p:nvSpPr>
          <p:cNvPr id="29" name="TextBox 28"/>
          <p:cNvSpPr txBox="1"/>
          <p:nvPr/>
        </p:nvSpPr>
        <p:spPr>
          <a:xfrm>
            <a:off x="548640" y="516636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Comisiones por venta dividas finder vs closer, pendientes vs pagadas</a:t>
            </a:r>
          </a:p>
        </p:txBody>
      </p:sp>
      <p:sp>
        <p:nvSpPr>
          <p:cNvPr id="30" name="TextBox 29"/>
          <p:cNvSpPr txBox="1"/>
          <p:nvPr/>
        </p:nvSpPr>
        <p:spPr>
          <a:xfrm>
            <a:off x="548640" y="548640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Alertas de seguros del cliente próximos a vencer</a:t>
            </a:r>
          </a:p>
        </p:txBody>
      </p:sp>
      <p:sp>
        <p:nvSpPr>
          <p:cNvPr id="31" name="TextBox 30"/>
          <p:cNvSpPr txBox="1"/>
          <p:nvPr/>
        </p:nvSpPr>
        <p:spPr>
          <a:xfrm>
            <a:off x="6370167" y="388620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LO QUE EL CLIENTE VE EN SU CUENTA</a:t>
            </a:r>
          </a:p>
        </p:txBody>
      </p:sp>
      <p:sp>
        <p:nvSpPr>
          <p:cNvPr id="32" name="TextBox 31"/>
          <p:cNvSpPr txBox="1"/>
          <p:nvPr/>
        </p:nvSpPr>
        <p:spPr>
          <a:xfrm>
            <a:off x="6370167" y="420624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Su tabla de amortización con meses pasados, presente y futuros</a:t>
            </a:r>
          </a:p>
        </p:txBody>
      </p:sp>
      <p:sp>
        <p:nvSpPr>
          <p:cNvPr id="33" name="TextBox 32"/>
          <p:cNvSpPr txBox="1"/>
          <p:nvPr/>
        </p:nvSpPr>
        <p:spPr>
          <a:xfrm>
            <a:off x="6370167" y="452628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Total pagado y saldo restante</a:t>
            </a:r>
          </a:p>
        </p:txBody>
      </p:sp>
      <p:sp>
        <p:nvSpPr>
          <p:cNvPr id="34" name="TextBox 33"/>
          <p:cNvSpPr txBox="1"/>
          <p:nvPr/>
        </p:nvSpPr>
        <p:spPr>
          <a:xfrm>
            <a:off x="6370167" y="484632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Botón para reportar el pago del mes con método y referencia</a:t>
            </a:r>
          </a:p>
        </p:txBody>
      </p:sp>
      <p:sp>
        <p:nvSpPr>
          <p:cNvPr id="35" name="TextBox 34"/>
          <p:cNvSpPr txBox="1"/>
          <p:nvPr/>
        </p:nvSpPr>
        <p:spPr>
          <a:xfrm>
            <a:off x="6370167" y="516636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Estado de su KYC y su contrato</a:t>
            </a:r>
          </a:p>
        </p:txBody>
      </p:sp>
      <p:sp>
        <p:nvSpPr>
          <p:cNvPr id="36" name="TextBox 35"/>
          <p:cNvSpPr txBox="1"/>
          <p:nvPr/>
        </p:nvSpPr>
        <p:spPr>
          <a:xfrm>
            <a:off x="6370167" y="548640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Notificaciones de pagos próximos y vencidos</a:t>
            </a:r>
          </a:p>
        </p:txBody>
      </p:sp>
      <p:sp>
        <p:nvSpPr>
          <p:cNvPr id="37" name="TextBox 36"/>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10  ·  RTO</a:t>
            </a:r>
          </a:p>
        </p:txBody>
      </p:sp>
      <p:sp>
        <p:nvSpPr>
          <p:cNvPr id="38" name="TextBox 37"/>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33 CLÁUSULAS  ·  DOBLE VISTA (OPERADOR + CLIENTE)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La capa contable</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GL COMPLETO, DOS ENTIDADES</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82296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Maninos OS no se apoya en QuickBooks externo: implementa su propio General Ledger con una estructura inspirada en el chart of accounts de QuickBooks. Hay dos contabilidades separadas — una para Homes, otra para Capital — porque son dos LLCs distintas con reportes independientes.</a:t>
            </a:r>
          </a:p>
        </p:txBody>
      </p:sp>
      <p:sp>
        <p:nvSpPr>
          <p:cNvPr id="7" name="TextBox 6"/>
          <p:cNvSpPr txBox="1"/>
          <p:nvPr/>
        </p:nvSpPr>
        <p:spPr>
          <a:xfrm>
            <a:off x="548640" y="24688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TABLAS IMPLICADAS</a:t>
            </a:r>
          </a:p>
        </p:txBody>
      </p:sp>
      <p:sp>
        <p:nvSpPr>
          <p:cNvPr id="8" name="Rectangle 7"/>
          <p:cNvSpPr/>
          <p:nvPr/>
        </p:nvSpPr>
        <p:spPr>
          <a:xfrm>
            <a:off x="548640" y="2788920"/>
            <a:ext cx="5272887" cy="3200400"/>
          </a:xfrm>
          <a:prstGeom prst="rect">
            <a:avLst/>
          </a:prstGeom>
          <a:solidFill>
            <a:srgbClr val="1A2638"/>
          </a:solidFill>
          <a:ln w="6350">
            <a:solidFill>
              <a:srgbClr val="2A36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92608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accounting_accounts           </a:t>
            </a:r>
            <a:r>
              <a:rPr sz="900" b="0" i="0">
                <a:solidFill>
                  <a:srgbClr val="5A6478"/>
                </a:solidFill>
                <a:latin typeface="Consolas"/>
              </a:rPr>
              <a:t>// chart of accounts Homes</a:t>
            </a:r>
          </a:p>
        </p:txBody>
      </p:sp>
      <p:sp>
        <p:nvSpPr>
          <p:cNvPr id="10" name="TextBox 9"/>
          <p:cNvSpPr txBox="1"/>
          <p:nvPr/>
        </p:nvSpPr>
        <p:spPr>
          <a:xfrm>
            <a:off x="731520" y="320040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accounting_transactions       </a:t>
            </a:r>
            <a:r>
              <a:rPr sz="900" b="0" i="0">
                <a:solidFill>
                  <a:srgbClr val="5A6478"/>
                </a:solidFill>
                <a:latin typeface="Consolas"/>
              </a:rPr>
              <a:t>// asientos contables</a:t>
            </a:r>
          </a:p>
        </p:txBody>
      </p:sp>
      <p:sp>
        <p:nvSpPr>
          <p:cNvPr id="11" name="TextBox 10"/>
          <p:cNvSpPr txBox="1"/>
          <p:nvPr/>
        </p:nvSpPr>
        <p:spPr>
          <a:xfrm>
            <a:off x="731520" y="347472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bank_accounts                 </a:t>
            </a:r>
            <a:r>
              <a:rPr sz="900" b="0" i="0">
                <a:solidFill>
                  <a:srgbClr val="5A6478"/>
                </a:solidFill>
                <a:latin typeface="Consolas"/>
              </a:rPr>
              <a:t>// cuentas bancarias</a:t>
            </a:r>
          </a:p>
        </p:txBody>
      </p:sp>
      <p:sp>
        <p:nvSpPr>
          <p:cNvPr id="12" name="TextBox 11"/>
          <p:cNvSpPr txBox="1"/>
          <p:nvPr/>
        </p:nvSpPr>
        <p:spPr>
          <a:xfrm>
            <a:off x="731520" y="374904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recurring_expenses            </a:t>
            </a:r>
            <a:r>
              <a:rPr sz="900" b="0" i="0">
                <a:solidFill>
                  <a:srgbClr val="5A6478"/>
                </a:solidFill>
                <a:latin typeface="Consolas"/>
              </a:rPr>
              <a:t>// reglas recurrentes</a:t>
            </a:r>
          </a:p>
        </p:txBody>
      </p:sp>
      <p:sp>
        <p:nvSpPr>
          <p:cNvPr id="13" name="TextBox 12"/>
          <p:cNvSpPr txBox="1"/>
          <p:nvPr/>
        </p:nvSpPr>
        <p:spPr>
          <a:xfrm>
            <a:off x="731520" y="402336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accounting_budgets            </a:t>
            </a:r>
            <a:r>
              <a:rPr sz="900" b="0" i="0">
                <a:solidFill>
                  <a:srgbClr val="5A6478"/>
                </a:solidFill>
                <a:latin typeface="Consolas"/>
              </a:rPr>
              <a:t>// presupuestos</a:t>
            </a:r>
          </a:p>
        </p:txBody>
      </p:sp>
      <p:sp>
        <p:nvSpPr>
          <p:cNvPr id="14" name="TextBox 13"/>
          <p:cNvSpPr txBox="1"/>
          <p:nvPr/>
        </p:nvSpPr>
        <p:spPr>
          <a:xfrm>
            <a:off x="731520" y="429768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accounting_audit_log          </a:t>
            </a:r>
            <a:r>
              <a:rPr sz="900" b="0" i="0">
                <a:solidFill>
                  <a:srgbClr val="5A6478"/>
                </a:solidFill>
                <a:latin typeface="Consolas"/>
              </a:rPr>
              <a:t>// auditoría</a:t>
            </a:r>
          </a:p>
        </p:txBody>
      </p:sp>
      <p:sp>
        <p:nvSpPr>
          <p:cNvPr id="15" name="TextBox 14"/>
          <p:cNvSpPr txBox="1"/>
          <p:nvPr/>
        </p:nvSpPr>
        <p:spPr>
          <a:xfrm>
            <a:off x="731520" y="457200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capital_accounts              </a:t>
            </a:r>
            <a:r>
              <a:rPr sz="900" b="0" i="0">
                <a:solidFill>
                  <a:srgbClr val="5A6478"/>
                </a:solidFill>
                <a:latin typeface="Consolas"/>
              </a:rPr>
              <a:t>// chart of accounts Capital</a:t>
            </a:r>
          </a:p>
        </p:txBody>
      </p:sp>
      <p:sp>
        <p:nvSpPr>
          <p:cNvPr id="16" name="TextBox 15"/>
          <p:cNvSpPr txBox="1"/>
          <p:nvPr/>
        </p:nvSpPr>
        <p:spPr>
          <a:xfrm>
            <a:off x="731520" y="484632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capital_transactions          </a:t>
            </a:r>
            <a:r>
              <a:rPr sz="900" b="0" i="0">
                <a:solidFill>
                  <a:srgbClr val="5A6478"/>
                </a:solidFill>
                <a:latin typeface="Consolas"/>
              </a:rPr>
              <a:t>// asientos Capital</a:t>
            </a:r>
          </a:p>
        </p:txBody>
      </p:sp>
      <p:sp>
        <p:nvSpPr>
          <p:cNvPr id="17" name="TextBox 16"/>
          <p:cNvSpPr txBox="1"/>
          <p:nvPr/>
        </p:nvSpPr>
        <p:spPr>
          <a:xfrm>
            <a:off x="731520" y="512064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capital_bank_statements       </a:t>
            </a:r>
            <a:r>
              <a:rPr sz="900" b="0" i="0">
                <a:solidFill>
                  <a:srgbClr val="5A6478"/>
                </a:solidFill>
                <a:latin typeface="Consolas"/>
              </a:rPr>
              <a:t>// extractos bancarios</a:t>
            </a:r>
          </a:p>
        </p:txBody>
      </p:sp>
      <p:sp>
        <p:nvSpPr>
          <p:cNvPr id="18" name="TextBox 17"/>
          <p:cNvSpPr txBox="1"/>
          <p:nvPr/>
        </p:nvSpPr>
        <p:spPr>
          <a:xfrm>
            <a:off x="731520" y="539496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capital_statement_movements   </a:t>
            </a:r>
            <a:r>
              <a:rPr sz="900" b="0" i="0">
                <a:solidFill>
                  <a:srgbClr val="5A6478"/>
                </a:solidFill>
                <a:latin typeface="Consolas"/>
              </a:rPr>
              <a:t>// líneas de extracto</a:t>
            </a:r>
          </a:p>
        </p:txBody>
      </p:sp>
      <p:sp>
        <p:nvSpPr>
          <p:cNvPr id="19" name="TextBox 18"/>
          <p:cNvSpPr txBox="1"/>
          <p:nvPr/>
        </p:nvSpPr>
        <p:spPr>
          <a:xfrm>
            <a:off x="731520" y="5669280"/>
            <a:ext cx="4907127" cy="274320"/>
          </a:xfrm>
          <a:prstGeom prst="rect">
            <a:avLst/>
          </a:prstGeom>
          <a:noFill/>
        </p:spPr>
        <p:txBody>
          <a:bodyPr wrap="square" lIns="0" rIns="0" tIns="0" bIns="0" anchor="t">
            <a:spAutoFit/>
          </a:bodyPr>
          <a:lstStyle/>
          <a:p>
            <a:pPr algn="l">
              <a:lnSpc>
                <a:spcPct val="100000"/>
              </a:lnSpc>
            </a:pPr>
            <a:r>
              <a:rPr sz="900" b="0" i="0">
                <a:solidFill>
                  <a:srgbClr val="E6CF95"/>
                </a:solidFill>
                <a:latin typeface="Consolas"/>
              </a:rPr>
              <a:t>capital_budgets               </a:t>
            </a:r>
            <a:r>
              <a:rPr sz="900" b="0" i="0">
                <a:solidFill>
                  <a:srgbClr val="5A6478"/>
                </a:solidFill>
                <a:latin typeface="Consolas"/>
              </a:rPr>
              <a:t>// presupuestos Capital</a:t>
            </a:r>
          </a:p>
        </p:txBody>
      </p:sp>
      <p:sp>
        <p:nvSpPr>
          <p:cNvPr id="20" name="TextBox 19"/>
          <p:cNvSpPr txBox="1"/>
          <p:nvPr/>
        </p:nvSpPr>
        <p:spPr>
          <a:xfrm>
            <a:off x="6370167" y="24688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CATEGORÍAS QUE CUBRE</a:t>
            </a:r>
          </a:p>
        </p:txBody>
      </p:sp>
      <p:sp>
        <p:nvSpPr>
          <p:cNvPr id="21" name="TextBox 20"/>
          <p:cNvSpPr txBox="1"/>
          <p:nvPr/>
        </p:nvSpPr>
        <p:spPr>
          <a:xfrm>
            <a:off x="6370167" y="27889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Ingresos: ventas contado, ventas RTO, pagos mensuales</a:t>
            </a:r>
          </a:p>
        </p:txBody>
      </p:sp>
      <p:sp>
        <p:nvSpPr>
          <p:cNvPr id="22" name="TextBox 21"/>
          <p:cNvSpPr txBox="1"/>
          <p:nvPr/>
        </p:nvSpPr>
        <p:spPr>
          <a:xfrm>
            <a:off x="6370167" y="315468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Gastos: compra, renovación, transporte, comisiones, operativos</a:t>
            </a:r>
          </a:p>
        </p:txBody>
      </p:sp>
      <p:sp>
        <p:nvSpPr>
          <p:cNvPr id="23" name="TextBox 22"/>
          <p:cNvSpPr txBox="1"/>
          <p:nvPr/>
        </p:nvSpPr>
        <p:spPr>
          <a:xfrm>
            <a:off x="6370167" y="352044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Activos: inventario por casa (cada propiedad genera su jerarquía)</a:t>
            </a:r>
          </a:p>
        </p:txBody>
      </p:sp>
      <p:sp>
        <p:nvSpPr>
          <p:cNvPr id="24" name="TextBox 23"/>
          <p:cNvSpPr txBox="1"/>
          <p:nvPr/>
        </p:nvSpPr>
        <p:spPr>
          <a:xfrm>
            <a:off x="6370167" y="388620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Reportes: P&amp;L, balance, flujo de caja, presupuesto vs real, P&amp;L por propiedad y por yard</a:t>
            </a:r>
          </a:p>
        </p:txBody>
      </p:sp>
      <p:sp>
        <p:nvSpPr>
          <p:cNvPr id="25" name="TextBox 24"/>
          <p:cNvSpPr txBox="1"/>
          <p:nvPr/>
        </p:nvSpPr>
        <p:spPr>
          <a:xfrm>
            <a:off x="6370167" y="425196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Reconciliación bancaria con import de extractos y matching</a:t>
            </a:r>
          </a:p>
        </p:txBody>
      </p:sp>
      <p:sp>
        <p:nvSpPr>
          <p:cNvPr id="26" name="TextBox 25"/>
          <p:cNvSpPr txBox="1"/>
          <p:nvPr/>
        </p:nvSpPr>
        <p:spPr>
          <a:xfrm>
            <a:off x="6370167" y="46177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Audit log para cumplimiento y trazabilidad</a:t>
            </a:r>
          </a:p>
        </p:txBody>
      </p:sp>
      <p:sp>
        <p:nvSpPr>
          <p:cNvPr id="27" name="TextBox 26"/>
          <p:cNvSpPr txBox="1"/>
          <p:nvPr/>
        </p:nvSpPr>
        <p:spPr>
          <a:xfrm>
            <a:off x="6370167" y="5440680"/>
            <a:ext cx="5272887" cy="457200"/>
          </a:xfrm>
          <a:prstGeom prst="rect">
            <a:avLst/>
          </a:prstGeom>
          <a:noFill/>
        </p:spPr>
        <p:txBody>
          <a:bodyPr wrap="square" lIns="0" rIns="0" tIns="0" bIns="0" anchor="t">
            <a:spAutoFit/>
          </a:bodyPr>
          <a:lstStyle/>
          <a:p>
            <a:pPr algn="l">
              <a:lnSpc>
                <a:spcPct val="150000"/>
              </a:lnSpc>
            </a:pPr>
            <a:r>
              <a:rPr sz="1000" b="0" i="1">
                <a:solidFill>
                  <a:srgbClr val="C7CDD8"/>
                </a:solidFill>
                <a:latin typeface="Calibri"/>
              </a:rPr>
              <a:t>Los pagos RTO disparan automáticamente el asiento contable correspondiente (_accounting_hooks.py). El equipo no rehace contabilidad.</a:t>
            </a:r>
          </a:p>
        </p:txBody>
      </p:sp>
      <p:sp>
        <p:nvSpPr>
          <p:cNvPr id="28" name="TextBox 27"/>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11  ·  CONTABILIDAD</a:t>
            </a:r>
          </a:p>
        </p:txBody>
      </p:sp>
      <p:sp>
        <p:nvSpPr>
          <p:cNvPr id="29" name="TextBox 28"/>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DOS LLCs  ·  GL PROPIO  ·  AUDIT LOG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El stack técnico</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SIN SORPRESAS, TODO ESTÁNDAR</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463040"/>
            <a:ext cx="182880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CAPA</a:t>
            </a:r>
          </a:p>
        </p:txBody>
      </p:sp>
      <p:sp>
        <p:nvSpPr>
          <p:cNvPr id="7" name="TextBox 6"/>
          <p:cNvSpPr txBox="1"/>
          <p:nvPr/>
        </p:nvSpPr>
        <p:spPr>
          <a:xfrm>
            <a:off x="2377440" y="1463040"/>
            <a:ext cx="914400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COMPONENTES</a:t>
            </a:r>
          </a:p>
        </p:txBody>
      </p:sp>
      <p:cxnSp>
        <p:nvCxnSpPr>
          <p:cNvPr id="8" name="Connector 7"/>
          <p:cNvCxnSpPr/>
          <p:nvPr/>
        </p:nvCxnSpPr>
        <p:spPr>
          <a:xfrm>
            <a:off x="548640" y="17373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182880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Backend</a:t>
            </a:r>
          </a:p>
        </p:txBody>
      </p:sp>
      <p:sp>
        <p:nvSpPr>
          <p:cNvPr id="10" name="TextBox 9"/>
          <p:cNvSpPr txBox="1"/>
          <p:nvPr/>
        </p:nvSpPr>
        <p:spPr>
          <a:xfrm>
            <a:off x="2377440" y="182880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Python 3.12 con FastAPI. 22 archivos de rutas en Homes, 13 en Capital, 5 públicos. 9 servicios (email, pdf, scheduler, scrapers, title monitor, notification, document, esign, property).</a:t>
            </a:r>
          </a:p>
        </p:txBody>
      </p:sp>
      <p:cxnSp>
        <p:nvCxnSpPr>
          <p:cNvPr id="11" name="Connector 10"/>
          <p:cNvCxnSpPr/>
          <p:nvPr/>
        </p:nvCxnSpPr>
        <p:spPr>
          <a:xfrm>
            <a:off x="548640" y="234086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237744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Datos</a:t>
            </a:r>
          </a:p>
        </p:txBody>
      </p:sp>
      <p:sp>
        <p:nvSpPr>
          <p:cNvPr id="13" name="TextBox 12"/>
          <p:cNvSpPr txBox="1"/>
          <p:nvPr/>
        </p:nvSpPr>
        <p:spPr>
          <a:xfrm>
            <a:off x="2377440" y="237744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Supabase: Postgres + Auth + Storage. 58 tablas, 91 migraciones SQL. Acceso vía SDK directo, sin ORM. Service-role key en backend, RLS en buckets públicos.</a:t>
            </a:r>
          </a:p>
        </p:txBody>
      </p:sp>
      <p:cxnSp>
        <p:nvCxnSpPr>
          <p:cNvPr id="14" name="Connector 13"/>
          <p:cNvCxnSpPr/>
          <p:nvPr/>
        </p:nvCxnSpPr>
        <p:spPr>
          <a:xfrm>
            <a:off x="548640" y="288950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292608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Frontend</a:t>
            </a:r>
          </a:p>
        </p:txBody>
      </p:sp>
      <p:sp>
        <p:nvSpPr>
          <p:cNvPr id="16" name="TextBox 15"/>
          <p:cNvSpPr txBox="1"/>
          <p:nvPr/>
        </p:nvSpPr>
        <p:spPr>
          <a:xfrm>
            <a:off x="2377440" y="292608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Next.js 14 con App Router. Tailwind con sistema de diseño propio (paleta navy / oro). Mobile-first responsive. Sin librería de estado externa: hooks de React.</a:t>
            </a:r>
          </a:p>
        </p:txBody>
      </p:sp>
      <p:cxnSp>
        <p:nvCxnSpPr>
          <p:cNvPr id="17" name="Connector 16"/>
          <p:cNvCxnSpPr/>
          <p:nvPr/>
        </p:nvCxnSpPr>
        <p:spPr>
          <a:xfrm>
            <a:off x="548640" y="343814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347472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IA</a:t>
            </a:r>
          </a:p>
        </p:txBody>
      </p:sp>
      <p:sp>
        <p:nvSpPr>
          <p:cNvPr id="19" name="TextBox 18"/>
          <p:cNvSpPr txBox="1"/>
          <p:nvPr/>
        </p:nvSpPr>
        <p:spPr>
          <a:xfrm>
            <a:off x="2377440" y="347472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OpenAI: gpt-5 en agentes, gpt-5-mini en chat con tool-calling, whisper-1 para transcripción (forzado a español).</a:t>
            </a:r>
          </a:p>
        </p:txBody>
      </p:sp>
      <p:cxnSp>
        <p:nvCxnSpPr>
          <p:cNvPr id="20" name="Connector 19"/>
          <p:cNvCxnSpPr/>
          <p:nvPr/>
        </p:nvCxnSpPr>
        <p:spPr>
          <a:xfrm>
            <a:off x="548640" y="398678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48640" y="402336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Email</a:t>
            </a:r>
          </a:p>
        </p:txBody>
      </p:sp>
      <p:sp>
        <p:nvSpPr>
          <p:cNvPr id="22" name="TextBox 21"/>
          <p:cNvSpPr txBox="1"/>
          <p:nvPr/>
        </p:nvSpPr>
        <p:spPr>
          <a:xfrm>
            <a:off x="2377440" y="402336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Resend con templates propios y attachments PDF. Procesamiento de cola de emails programados cada 30 min.</a:t>
            </a:r>
          </a:p>
        </p:txBody>
      </p:sp>
      <p:cxnSp>
        <p:nvCxnSpPr>
          <p:cNvPr id="23" name="Connector 22"/>
          <p:cNvCxnSpPr/>
          <p:nvPr/>
        </p:nvCxnSpPr>
        <p:spPr>
          <a:xfrm>
            <a:off x="548640" y="453542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457200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Scraping</a:t>
            </a:r>
          </a:p>
        </p:txBody>
      </p:sp>
      <p:sp>
        <p:nvSpPr>
          <p:cNvPr id="25" name="TextBox 24"/>
          <p:cNvSpPr txBox="1"/>
          <p:nvPr/>
        </p:nvSpPr>
        <p:spPr>
          <a:xfrm>
            <a:off x="2377440" y="457200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Playwright para automatización de browser. Apify para Facebook Marketplace.</a:t>
            </a:r>
          </a:p>
        </p:txBody>
      </p:sp>
      <p:cxnSp>
        <p:nvCxnSpPr>
          <p:cNvPr id="26" name="Connector 25"/>
          <p:cNvCxnSpPr/>
          <p:nvPr/>
        </p:nvCxnSpPr>
        <p:spPr>
          <a:xfrm>
            <a:off x="548640" y="508406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512064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Despliegue</a:t>
            </a:r>
          </a:p>
        </p:txBody>
      </p:sp>
      <p:sp>
        <p:nvSpPr>
          <p:cNvPr id="28" name="TextBox 27"/>
          <p:cNvSpPr txBox="1"/>
          <p:nvPr/>
        </p:nvSpPr>
        <p:spPr>
          <a:xfrm>
            <a:off x="2377440" y="512064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Backend en Railway (Docker). Frontend en Vercel. Deploy automático en cada push a main.</a:t>
            </a:r>
          </a:p>
        </p:txBody>
      </p:sp>
      <p:cxnSp>
        <p:nvCxnSpPr>
          <p:cNvPr id="29" name="Connector 28"/>
          <p:cNvCxnSpPr/>
          <p:nvPr/>
        </p:nvCxnSpPr>
        <p:spPr>
          <a:xfrm>
            <a:off x="548640" y="563270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5669280"/>
            <a:ext cx="1691640" cy="502920"/>
          </a:xfrm>
          <a:prstGeom prst="rect">
            <a:avLst/>
          </a:prstGeom>
          <a:noFill/>
        </p:spPr>
        <p:txBody>
          <a:bodyPr wrap="square" lIns="0" rIns="0" tIns="0" bIns="0" anchor="t">
            <a:spAutoFit/>
          </a:bodyPr>
          <a:lstStyle/>
          <a:p>
            <a:pPr algn="l">
              <a:lnSpc>
                <a:spcPct val="130000"/>
              </a:lnSpc>
            </a:pPr>
            <a:r>
              <a:rPr sz="1100" b="1" i="0">
                <a:solidFill>
                  <a:srgbClr val="EEF0F4"/>
                </a:solidFill>
                <a:latin typeface="Calibri"/>
              </a:rPr>
              <a:t>Observabilidad</a:t>
            </a:r>
          </a:p>
        </p:txBody>
      </p:sp>
      <p:sp>
        <p:nvSpPr>
          <p:cNvPr id="31" name="TextBox 30"/>
          <p:cNvSpPr txBox="1"/>
          <p:nvPr/>
        </p:nvSpPr>
        <p:spPr>
          <a:xfrm>
            <a:off x="2377440" y="5669280"/>
            <a:ext cx="9006840" cy="640080"/>
          </a:xfrm>
          <a:prstGeom prst="rect">
            <a:avLst/>
          </a:prstGeom>
          <a:noFill/>
        </p:spPr>
        <p:txBody>
          <a:bodyPr wrap="square" lIns="0" rIns="0" tIns="0" bIns="0" anchor="t">
            <a:spAutoFit/>
          </a:bodyPr>
          <a:lstStyle/>
          <a:p>
            <a:pPr algn="l">
              <a:lnSpc>
                <a:spcPct val="145000"/>
              </a:lnSpc>
            </a:pPr>
            <a:r>
              <a:rPr sz="1000" b="0" i="0">
                <a:solidFill>
                  <a:srgbClr val="C7CDD8"/>
                </a:solidFill>
                <a:latin typeface="Calibri"/>
              </a:rPr>
              <a:t>structlog para logging estructurado. Logfire opcional para telemetría.</a:t>
            </a:r>
          </a:p>
        </p:txBody>
      </p:sp>
      <p:cxnSp>
        <p:nvCxnSpPr>
          <p:cNvPr id="32" name="Connector 31"/>
          <p:cNvCxnSpPr/>
          <p:nvPr/>
        </p:nvCxnSpPr>
        <p:spPr>
          <a:xfrm>
            <a:off x="548640" y="618134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12  ·  STACK</a:t>
            </a:r>
          </a:p>
        </p:txBody>
      </p:sp>
      <p:sp>
        <p:nvSpPr>
          <p:cNvPr id="34" name="TextBox 33"/>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FASTAPI + NEXT.JS + SUPABASE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Las reglas del negocio</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TEXAS, MANINOS, 2026</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64008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Las reglas viven en el código y se aplican automáticamente. No son recomendaciones del agente: son guardarraíles que las APIs y los agentes respetan.</a:t>
            </a:r>
          </a:p>
        </p:txBody>
      </p:sp>
      <p:sp>
        <p:nvSpPr>
          <p:cNvPr id="7" name="TextBox 6"/>
          <p:cNvSpPr txBox="1"/>
          <p:nvPr/>
        </p:nvSpPr>
        <p:spPr>
          <a:xfrm>
            <a:off x="548640" y="24688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ADQUISICIÓN</a:t>
            </a:r>
          </a:p>
        </p:txBody>
      </p:sp>
      <p:sp>
        <p:nvSpPr>
          <p:cNvPr id="8" name="TextBox 7"/>
          <p:cNvSpPr txBox="1"/>
          <p:nvPr/>
        </p:nvSpPr>
        <p:spPr>
          <a:xfrm>
            <a:off x="548640" y="2788920"/>
            <a:ext cx="5272887" cy="36576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Geografía: </a:t>
            </a:r>
            <a:r>
              <a:rPr sz="1100" b="0" i="0">
                <a:solidFill>
                  <a:srgbClr val="C7CDD8"/>
                </a:solidFill>
                <a:latin typeface="Calibri"/>
              </a:rPr>
              <a:t>radio de 200 millas desde Houston o Dallas, solo Texas</a:t>
            </a:r>
          </a:p>
        </p:txBody>
      </p:sp>
      <p:sp>
        <p:nvSpPr>
          <p:cNvPr id="9" name="TextBox 8"/>
          <p:cNvSpPr txBox="1"/>
          <p:nvPr/>
        </p:nvSpPr>
        <p:spPr>
          <a:xfrm>
            <a:off x="548640" y="3200400"/>
            <a:ext cx="5272887" cy="36576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Precio de compra: </a:t>
            </a:r>
            <a:r>
              <a:rPr sz="1100" b="0" i="0">
                <a:solidFill>
                  <a:srgbClr val="C7CDD8"/>
                </a:solidFill>
                <a:latin typeface="Calibri"/>
              </a:rPr>
              <a:t>hasta el 60% del valor de mercado (renovación no incluida)</a:t>
            </a:r>
          </a:p>
        </p:txBody>
      </p:sp>
      <p:sp>
        <p:nvSpPr>
          <p:cNvPr id="10" name="TextBox 9"/>
          <p:cNvSpPr txBox="1"/>
          <p:nvPr/>
        </p:nvSpPr>
        <p:spPr>
          <a:xfrm>
            <a:off x="548640" y="3611880"/>
            <a:ext cx="5272887" cy="36576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Rango aceptado: </a:t>
            </a:r>
            <a:r>
              <a:rPr sz="1100" b="0" i="0">
                <a:solidFill>
                  <a:srgbClr val="C7CDD8"/>
                </a:solidFill>
                <a:latin typeface="Calibri"/>
              </a:rPr>
              <a:t>entre $5,000 y $80,000 por propiedad</a:t>
            </a:r>
          </a:p>
        </p:txBody>
      </p:sp>
      <p:sp>
        <p:nvSpPr>
          <p:cNvPr id="11" name="TextBox 10"/>
          <p:cNvSpPr txBox="1"/>
          <p:nvPr/>
        </p:nvSpPr>
        <p:spPr>
          <a:xfrm>
            <a:off x="548640" y="4023360"/>
            <a:ext cx="5272887" cy="36576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Año: </a:t>
            </a:r>
            <a:r>
              <a:rPr sz="1100" b="0" i="0">
                <a:solidFill>
                  <a:srgbClr val="C7CDD8"/>
                </a:solidFill>
                <a:latin typeface="Calibri"/>
              </a:rPr>
              <a:t>sin filtro</a:t>
            </a:r>
          </a:p>
        </p:txBody>
      </p:sp>
      <p:sp>
        <p:nvSpPr>
          <p:cNvPr id="12" name="TextBox 11"/>
          <p:cNvSpPr txBox="1"/>
          <p:nvPr/>
        </p:nvSpPr>
        <p:spPr>
          <a:xfrm>
            <a:off x="548640" y="4434840"/>
            <a:ext cx="5272887" cy="36576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Tipos: </a:t>
            </a:r>
            <a:r>
              <a:rPr sz="1100" b="0" i="0">
                <a:solidFill>
                  <a:srgbClr val="C7CDD8"/>
                </a:solidFill>
                <a:latin typeface="Calibri"/>
              </a:rPr>
              <a:t>single wide y double wide</a:t>
            </a:r>
          </a:p>
        </p:txBody>
      </p:sp>
      <p:sp>
        <p:nvSpPr>
          <p:cNvPr id="13" name="TextBox 12"/>
          <p:cNvSpPr txBox="1"/>
          <p:nvPr/>
        </p:nvSpPr>
        <p:spPr>
          <a:xfrm>
            <a:off x="6370167" y="24688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RENOVACIÓN Y VENTA</a:t>
            </a:r>
          </a:p>
        </p:txBody>
      </p:sp>
      <p:sp>
        <p:nvSpPr>
          <p:cNvPr id="14" name="TextBox 13"/>
          <p:cNvSpPr txBox="1"/>
          <p:nvPr/>
        </p:nvSpPr>
        <p:spPr>
          <a:xfrm>
            <a:off x="6370167" y="2788920"/>
            <a:ext cx="5272887" cy="45720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Presupuesto de renovación: </a:t>
            </a:r>
            <a:r>
              <a:rPr sz="1100" b="0" i="0">
                <a:solidFill>
                  <a:srgbClr val="C7CDD8"/>
                </a:solidFill>
                <a:latin typeface="Calibri"/>
              </a:rPr>
              <a:t>entre $5,000 y $15,000</a:t>
            </a:r>
          </a:p>
        </p:txBody>
      </p:sp>
      <p:sp>
        <p:nvSpPr>
          <p:cNvPr id="15" name="TextBox 14"/>
          <p:cNvSpPr txBox="1"/>
          <p:nvPr/>
        </p:nvSpPr>
        <p:spPr>
          <a:xfrm>
            <a:off x="6370167" y="3200400"/>
            <a:ext cx="5272887" cy="45720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Precio de venta: </a:t>
            </a:r>
            <a:r>
              <a:rPr sz="1100" b="0" i="0">
                <a:solidFill>
                  <a:srgbClr val="C7CDD8"/>
                </a:solidFill>
                <a:latin typeface="Calibri"/>
              </a:rPr>
              <a:t>hasta el 80% del valor de mercado mezclado (techo enforced por PrecioAgent)</a:t>
            </a:r>
          </a:p>
        </p:txBody>
      </p:sp>
      <p:sp>
        <p:nvSpPr>
          <p:cNvPr id="16" name="TextBox 15"/>
          <p:cNvSpPr txBox="1"/>
          <p:nvPr/>
        </p:nvSpPr>
        <p:spPr>
          <a:xfrm>
            <a:off x="6370167" y="3611880"/>
            <a:ext cx="5272887" cy="45720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Comisiones: </a:t>
            </a:r>
            <a:r>
              <a:rPr sz="1100" b="0" i="0">
                <a:solidFill>
                  <a:srgbClr val="C7CDD8"/>
                </a:solidFill>
                <a:latin typeface="Calibri"/>
              </a:rPr>
              <a:t>$1,500 en venta contado · $1,000 en venta RTO</a:t>
            </a:r>
          </a:p>
        </p:txBody>
      </p:sp>
      <p:sp>
        <p:nvSpPr>
          <p:cNvPr id="17" name="TextBox 16"/>
          <p:cNvSpPr txBox="1"/>
          <p:nvPr/>
        </p:nvSpPr>
        <p:spPr>
          <a:xfrm>
            <a:off x="6370167" y="4023360"/>
            <a:ext cx="5272887" cy="45720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Reparto de comisión: </a:t>
            </a:r>
            <a:r>
              <a:rPr sz="1100" b="0" i="0">
                <a:solidFill>
                  <a:srgbClr val="C7CDD8"/>
                </a:solidFill>
                <a:latin typeface="Calibri"/>
              </a:rPr>
              <a:t>50% para el finder, 50% para el closer</a:t>
            </a:r>
          </a:p>
        </p:txBody>
      </p:sp>
      <p:sp>
        <p:nvSpPr>
          <p:cNvPr id="18" name="TextBox 17"/>
          <p:cNvSpPr txBox="1"/>
          <p:nvPr/>
        </p:nvSpPr>
        <p:spPr>
          <a:xfrm>
            <a:off x="6370167" y="4434840"/>
            <a:ext cx="5272887" cy="457200"/>
          </a:xfrm>
          <a:prstGeom prst="rect">
            <a:avLst/>
          </a:prstGeom>
          <a:noFill/>
        </p:spPr>
        <p:txBody>
          <a:bodyPr wrap="square" lIns="0" rIns="0" tIns="0" bIns="0" anchor="t">
            <a:spAutoFit/>
          </a:bodyPr>
          <a:lstStyle/>
          <a:p>
            <a:pPr algn="l">
              <a:lnSpc>
                <a:spcPct val="150000"/>
              </a:lnSpc>
            </a:pPr>
            <a:r>
              <a:rPr sz="1100" b="0" i="0">
                <a:solidFill>
                  <a:srgbClr val="C9A047"/>
                </a:solidFill>
                <a:latin typeface="Calibri"/>
              </a:rPr>
              <a:t>—  </a:t>
            </a:r>
            <a:r>
              <a:rPr sz="1100" b="1" i="0">
                <a:solidFill>
                  <a:srgbClr val="EEF0F4"/>
                </a:solidFill>
                <a:latin typeface="Calibri"/>
              </a:rPr>
              <a:t>Modalidades de venta: </a:t>
            </a:r>
            <a:r>
              <a:rPr sz="1100" b="0" i="0">
                <a:solidFill>
                  <a:srgbClr val="C7CDD8"/>
                </a:solidFill>
                <a:latin typeface="Calibri"/>
              </a:rPr>
              <a:t>contado o RTO</a:t>
            </a:r>
          </a:p>
        </p:txBody>
      </p:sp>
      <p:sp>
        <p:nvSpPr>
          <p:cNvPr id="19" name="TextBox 18"/>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13  ·  REGLAS</a:t>
            </a:r>
          </a:p>
        </p:txBody>
      </p:sp>
      <p:sp>
        <p:nvSpPr>
          <p:cNvPr id="20" name="TextBox 19"/>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APLICADAS EN CÓDIGO  ·  FEBRERO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12191695" cy="6858000"/>
          </a:xfrm>
          <a:prstGeom prst="rect">
            <a:avLst/>
          </a:prstGeom>
          <a:solidFill>
            <a:srgbClr val="131F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286000"/>
            <a:ext cx="11094415" cy="365760"/>
          </a:xfrm>
          <a:prstGeom prst="rect">
            <a:avLst/>
          </a:prstGeom>
          <a:noFill/>
        </p:spPr>
        <p:txBody>
          <a:bodyPr wrap="square" lIns="0" rIns="0" tIns="0" bIns="0" anchor="t">
            <a:spAutoFit/>
          </a:bodyPr>
          <a:lstStyle/>
          <a:p>
            <a:pPr algn="l">
              <a:lnSpc>
                <a:spcPct val="130000"/>
              </a:lnSpc>
            </a:pPr>
            <a:r>
              <a:rPr sz="1200" b="1" i="0" spc="200">
                <a:solidFill>
                  <a:srgbClr val="C9A047"/>
                </a:solidFill>
                <a:latin typeface="Georgia"/>
              </a:rPr>
              <a:t>— PARTE III —</a:t>
            </a:r>
          </a:p>
        </p:txBody>
      </p:sp>
      <p:sp>
        <p:nvSpPr>
          <p:cNvPr id="5" name="TextBox 4"/>
          <p:cNvSpPr txBox="1"/>
          <p:nvPr/>
        </p:nvSpPr>
        <p:spPr>
          <a:xfrm>
            <a:off x="548640" y="2743200"/>
            <a:ext cx="9144000" cy="1828800"/>
          </a:xfrm>
          <a:prstGeom prst="rect">
            <a:avLst/>
          </a:prstGeom>
          <a:noFill/>
        </p:spPr>
        <p:txBody>
          <a:bodyPr wrap="square" lIns="0" rIns="0" tIns="0" bIns="0" anchor="t">
            <a:spAutoFit/>
          </a:bodyPr>
          <a:lstStyle/>
          <a:p>
            <a:pPr algn="l">
              <a:lnSpc>
                <a:spcPct val="105000"/>
              </a:lnSpc>
            </a:pPr>
            <a:r>
              <a:rPr sz="4800" b="0" i="0">
                <a:solidFill>
                  <a:srgbClr val="EEF0F4"/>
                </a:solidFill>
                <a:latin typeface="Georgia"/>
              </a:rPr>
              <a:t>El patrón es portable</a:t>
            </a:r>
          </a:p>
        </p:txBody>
      </p:sp>
      <p:sp>
        <p:nvSpPr>
          <p:cNvPr id="6" name="TextBox 5"/>
          <p:cNvSpPr txBox="1"/>
          <p:nvPr/>
        </p:nvSpPr>
        <p:spPr>
          <a:xfrm>
            <a:off x="548640" y="4572000"/>
            <a:ext cx="7315200" cy="1371600"/>
          </a:xfrm>
          <a:prstGeom prst="rect">
            <a:avLst/>
          </a:prstGeom>
          <a:noFill/>
        </p:spPr>
        <p:txBody>
          <a:bodyPr wrap="square" lIns="0" rIns="0" tIns="0" bIns="0" anchor="t">
            <a:spAutoFit/>
          </a:bodyPr>
          <a:lstStyle/>
          <a:p>
            <a:pPr algn="l">
              <a:lnSpc>
                <a:spcPct val="150000"/>
              </a:lnSpc>
            </a:pPr>
            <a:r>
              <a:rPr sz="1500" b="0" i="1">
                <a:solidFill>
                  <a:srgbClr val="8C95A8"/>
                </a:solidFill>
                <a:latin typeface="Georgia"/>
              </a:rPr>
              <a:t>El sistema fue construido para mobile homes en Texas, pero su modelo de datos y sus flujos describen una clase más amplia de negocios.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058400" cy="548640"/>
          </a:xfrm>
          <a:prstGeom prst="rect">
            <a:avLst/>
          </a:prstGeom>
          <a:noFill/>
        </p:spPr>
        <p:txBody>
          <a:bodyPr wrap="square" lIns="0" rIns="0" tIns="0" bIns="0" anchor="t">
            <a:spAutoFit/>
          </a:bodyPr>
          <a:lstStyle/>
          <a:p>
            <a:pPr algn="l">
              <a:lnSpc>
                <a:spcPct val="130000"/>
              </a:lnSpc>
            </a:pPr>
            <a:r>
              <a:rPr sz="2800" b="0" i="0">
                <a:solidFill>
                  <a:srgbClr val="EEF0F4"/>
                </a:solidFill>
                <a:latin typeface="Georgia"/>
              </a:rPr>
              <a:t>Lo que es genérico, lo que es Texas-MH</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ANÁLISIS DE PORTABILIDAD</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822960"/>
          </a:xfrm>
          <a:prstGeom prst="rect">
            <a:avLst/>
          </a:prstGeom>
          <a:noFill/>
        </p:spPr>
        <p:txBody>
          <a:bodyPr wrap="square" lIns="0" rIns="0" tIns="0" bIns="0" anchor="t">
            <a:spAutoFit/>
          </a:bodyPr>
          <a:lstStyle/>
          <a:p>
            <a:pPr algn="l">
              <a:lnSpc>
                <a:spcPct val="150000"/>
              </a:lnSpc>
            </a:pPr>
            <a:r>
              <a:rPr sz="1100" b="0" i="1">
                <a:solidFill>
                  <a:srgbClr val="C7CDD8"/>
                </a:solidFill>
                <a:latin typeface="Calibri"/>
              </a:rPr>
              <a:t>El núcleo del sistema describe un patrón universal: un dealer adquiere un activo físico de alto valor con título registrable, lo reacondiciona, lo vende a crédito propio, y cobra en el tiempo. Cualquier negocio que cumpla ese patrón puede correr sobre Maninos OS con configuración localizada.</a:t>
            </a:r>
          </a:p>
        </p:txBody>
      </p:sp>
      <p:sp>
        <p:nvSpPr>
          <p:cNvPr id="7" name="TextBox 6"/>
          <p:cNvSpPr txBox="1"/>
          <p:nvPr/>
        </p:nvSpPr>
        <p:spPr>
          <a:xfrm>
            <a:off x="548640" y="26974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GENÉRICO — EL MOTOR</a:t>
            </a:r>
          </a:p>
        </p:txBody>
      </p:sp>
      <p:sp>
        <p:nvSpPr>
          <p:cNvPr id="8" name="TextBox 7"/>
          <p:cNvSpPr txBox="1"/>
          <p:nvPr/>
        </p:nvSpPr>
        <p:spPr>
          <a:xfrm>
            <a:off x="548640" y="301752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Pipeline de adquisición: detectar, calificar, comprar</a:t>
            </a:r>
          </a:p>
        </p:txBody>
      </p:sp>
      <p:sp>
        <p:nvSpPr>
          <p:cNvPr id="9" name="TextBox 8"/>
          <p:cNvSpPr txBox="1"/>
          <p:nvPr/>
        </p:nvSpPr>
        <p:spPr>
          <a:xfrm>
            <a:off x="548640" y="3364992"/>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Workflow de reacondicionamiento con materiales, mano de obra y costos</a:t>
            </a:r>
          </a:p>
        </p:txBody>
      </p:sp>
      <p:sp>
        <p:nvSpPr>
          <p:cNvPr id="10" name="TextBox 9"/>
          <p:cNvSpPr txBox="1"/>
          <p:nvPr/>
        </p:nvSpPr>
        <p:spPr>
          <a:xfrm>
            <a:off x="548640" y="3712464"/>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Galería de fotos clasificada (vision agnóstico al activo)</a:t>
            </a:r>
          </a:p>
        </p:txBody>
      </p:sp>
      <p:sp>
        <p:nvSpPr>
          <p:cNvPr id="11" name="TextBox 10"/>
          <p:cNvSpPr txBox="1"/>
          <p:nvPr/>
        </p:nvSpPr>
        <p:spPr>
          <a:xfrm>
            <a:off x="548640" y="4059936"/>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Motor RTO/BHPH: contrato, amortización, late fee, NSF, holdover, mora</a:t>
            </a:r>
          </a:p>
        </p:txBody>
      </p:sp>
      <p:sp>
        <p:nvSpPr>
          <p:cNvPr id="12" name="TextBox 11"/>
          <p:cNvSpPr txBox="1"/>
          <p:nvPr/>
        </p:nvSpPr>
        <p:spPr>
          <a:xfrm>
            <a:off x="548640" y="4407408"/>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Portal del cliente: KYC, firma electrónica, reporte de pagos, estado de cuenta</a:t>
            </a:r>
          </a:p>
        </p:txBody>
      </p:sp>
      <p:sp>
        <p:nvSpPr>
          <p:cNvPr id="13" name="TextBox 12"/>
          <p:cNvSpPr txBox="1"/>
          <p:nvPr/>
        </p:nvSpPr>
        <p:spPr>
          <a:xfrm>
            <a:off x="548640" y="475488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Capital de inversores con promissory notes y reportes mensuales</a:t>
            </a:r>
          </a:p>
        </p:txBody>
      </p:sp>
      <p:sp>
        <p:nvSpPr>
          <p:cNvPr id="14" name="TextBox 13"/>
          <p:cNvSpPr txBox="1"/>
          <p:nvPr/>
        </p:nvSpPr>
        <p:spPr>
          <a:xfrm>
            <a:off x="548640" y="5102352"/>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General Ledger con reconciliación bancaria</a:t>
            </a:r>
          </a:p>
        </p:txBody>
      </p:sp>
      <p:sp>
        <p:nvSpPr>
          <p:cNvPr id="15" name="TextBox 14"/>
          <p:cNvSpPr txBox="1"/>
          <p:nvPr/>
        </p:nvSpPr>
        <p:spPr>
          <a:xfrm>
            <a:off x="548640" y="5449824"/>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Asistente conversacional sobre la base de datos</a:t>
            </a:r>
          </a:p>
        </p:txBody>
      </p:sp>
      <p:sp>
        <p:nvSpPr>
          <p:cNvPr id="16" name="TextBox 15"/>
          <p:cNvSpPr txBox="1"/>
          <p:nvPr/>
        </p:nvSpPr>
        <p:spPr>
          <a:xfrm>
            <a:off x="6370167" y="26974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LOCALIZABLE — LA «ASSET PACK»</a:t>
            </a:r>
          </a:p>
        </p:txBody>
      </p:sp>
      <p:sp>
        <p:nvSpPr>
          <p:cNvPr id="17" name="TextBox 16"/>
          <p:cNvSpPr txBox="1"/>
          <p:nvPr/>
        </p:nvSpPr>
        <p:spPr>
          <a:xfrm>
            <a:off x="6370167" y="3017520"/>
            <a:ext cx="5272887" cy="457200"/>
          </a:xfrm>
          <a:prstGeom prst="rect">
            <a:avLst/>
          </a:prstGeom>
          <a:noFill/>
        </p:spPr>
        <p:txBody>
          <a:bodyPr wrap="square" lIns="0" rIns="0" tIns="0" bIns="0" anchor="t">
            <a:spAutoFit/>
          </a:bodyPr>
          <a:lstStyle/>
          <a:p>
            <a:pPr algn="l">
              <a:lnSpc>
                <a:spcPct val="150000"/>
              </a:lnSpc>
            </a:pPr>
            <a:r>
              <a:rPr sz="1000" b="0" i="0">
                <a:solidFill>
                  <a:srgbClr val="C9A047"/>
                </a:solidFill>
                <a:latin typeface="Calibri"/>
              </a:rPr>
              <a:t>—  </a:t>
            </a:r>
            <a:r>
              <a:rPr sz="1000" b="1" i="0">
                <a:solidFill>
                  <a:srgbClr val="EEF0F4"/>
                </a:solidFill>
                <a:latin typeface="Calibri"/>
              </a:rPr>
              <a:t>Schema del activo: </a:t>
            </a:r>
            <a:r>
              <a:rPr sz="1000" b="0" i="0">
                <a:solidFill>
                  <a:srgbClr val="C7CDD8"/>
                </a:solidFill>
                <a:latin typeface="Calibri"/>
              </a:rPr>
              <a:t>sqft + HUD label en MH; HIN + nº motor en boats; VIN + odómetro en autos.</a:t>
            </a:r>
          </a:p>
        </p:txBody>
      </p:sp>
      <p:sp>
        <p:nvSpPr>
          <p:cNvPr id="18" name="TextBox 17"/>
          <p:cNvSpPr txBox="1"/>
          <p:nvPr/>
        </p:nvSpPr>
        <p:spPr>
          <a:xfrm>
            <a:off x="6370167" y="3401568"/>
            <a:ext cx="5272887" cy="457200"/>
          </a:xfrm>
          <a:prstGeom prst="rect">
            <a:avLst/>
          </a:prstGeom>
          <a:noFill/>
        </p:spPr>
        <p:txBody>
          <a:bodyPr wrap="square" lIns="0" rIns="0" tIns="0" bIns="0" anchor="t">
            <a:spAutoFit/>
          </a:bodyPr>
          <a:lstStyle/>
          <a:p>
            <a:pPr algn="l">
              <a:lnSpc>
                <a:spcPct val="150000"/>
              </a:lnSpc>
            </a:pPr>
            <a:r>
              <a:rPr sz="1000" b="0" i="0">
                <a:solidFill>
                  <a:srgbClr val="C9A047"/>
                </a:solidFill>
                <a:latin typeface="Calibri"/>
              </a:rPr>
              <a:t>—  </a:t>
            </a:r>
            <a:r>
              <a:rPr sz="1000" b="1" i="0">
                <a:solidFill>
                  <a:srgbClr val="EEF0F4"/>
                </a:solidFill>
                <a:latin typeface="Calibri"/>
              </a:rPr>
              <a:t>Reglas de adquisición: </a:t>
            </a:r>
            <a:r>
              <a:rPr sz="1000" b="0" i="0">
                <a:solidFill>
                  <a:srgbClr val="C7CDD8"/>
                </a:solidFill>
                <a:latin typeface="Calibri"/>
              </a:rPr>
              <a:t>el 60% / $5K-$80K / 200mi es de Maninos; otro dealer las suyas.</a:t>
            </a:r>
          </a:p>
        </p:txBody>
      </p:sp>
      <p:sp>
        <p:nvSpPr>
          <p:cNvPr id="19" name="TextBox 18"/>
          <p:cNvSpPr txBox="1"/>
          <p:nvPr/>
        </p:nvSpPr>
        <p:spPr>
          <a:xfrm>
            <a:off x="6370167" y="3785616"/>
            <a:ext cx="5272887" cy="457200"/>
          </a:xfrm>
          <a:prstGeom prst="rect">
            <a:avLst/>
          </a:prstGeom>
          <a:noFill/>
        </p:spPr>
        <p:txBody>
          <a:bodyPr wrap="square" lIns="0" rIns="0" tIns="0" bIns="0" anchor="t">
            <a:spAutoFit/>
          </a:bodyPr>
          <a:lstStyle/>
          <a:p>
            <a:pPr algn="l">
              <a:lnSpc>
                <a:spcPct val="150000"/>
              </a:lnSpc>
            </a:pPr>
            <a:r>
              <a:rPr sz="1000" b="0" i="0">
                <a:solidFill>
                  <a:srgbClr val="C9A047"/>
                </a:solidFill>
                <a:latin typeface="Calibri"/>
              </a:rPr>
              <a:t>—  </a:t>
            </a:r>
            <a:r>
              <a:rPr sz="1000" b="1" i="0">
                <a:solidFill>
                  <a:srgbClr val="EEF0F4"/>
                </a:solidFill>
                <a:latin typeface="Calibri"/>
              </a:rPr>
              <a:t>Workflow de título: </a:t>
            </a:r>
            <a:r>
              <a:rPr sz="1000" b="0" i="0">
                <a:solidFill>
                  <a:srgbClr val="C7CDD8"/>
                </a:solidFill>
                <a:latin typeface="Calibri"/>
              </a:rPr>
              <a:t>TDHCA en Texas, otra agencia en cada estado, USCG opcional para boats grandes.</a:t>
            </a:r>
          </a:p>
        </p:txBody>
      </p:sp>
      <p:sp>
        <p:nvSpPr>
          <p:cNvPr id="20" name="TextBox 19"/>
          <p:cNvSpPr txBox="1"/>
          <p:nvPr/>
        </p:nvSpPr>
        <p:spPr>
          <a:xfrm>
            <a:off x="6370167" y="4169664"/>
            <a:ext cx="5272887" cy="457200"/>
          </a:xfrm>
          <a:prstGeom prst="rect">
            <a:avLst/>
          </a:prstGeom>
          <a:noFill/>
        </p:spPr>
        <p:txBody>
          <a:bodyPr wrap="square" lIns="0" rIns="0" tIns="0" bIns="0" anchor="t">
            <a:spAutoFit/>
          </a:bodyPr>
          <a:lstStyle/>
          <a:p>
            <a:pPr algn="l">
              <a:lnSpc>
                <a:spcPct val="150000"/>
              </a:lnSpc>
            </a:pPr>
            <a:r>
              <a:rPr sz="1000" b="0" i="0">
                <a:solidFill>
                  <a:srgbClr val="C9A047"/>
                </a:solidFill>
                <a:latin typeface="Calibri"/>
              </a:rPr>
              <a:t>—  </a:t>
            </a:r>
            <a:r>
              <a:rPr sz="1000" b="1" i="0">
                <a:solidFill>
                  <a:srgbClr val="EEF0F4"/>
                </a:solidFill>
                <a:latin typeface="Calibri"/>
              </a:rPr>
              <a:t>Plantilla de contrato: </a:t>
            </a:r>
            <a:r>
              <a:rPr sz="1000" b="0" i="0">
                <a:solidFill>
                  <a:srgbClr val="C7CDD8"/>
                </a:solidFill>
                <a:latin typeface="Calibri"/>
              </a:rPr>
              <a:t>Lease with Purchase Option en MH; contrato BHPH en autos.</a:t>
            </a:r>
          </a:p>
        </p:txBody>
      </p:sp>
      <p:sp>
        <p:nvSpPr>
          <p:cNvPr id="21" name="TextBox 20"/>
          <p:cNvSpPr txBox="1"/>
          <p:nvPr/>
        </p:nvSpPr>
        <p:spPr>
          <a:xfrm>
            <a:off x="6370167" y="4553712"/>
            <a:ext cx="5272887" cy="457200"/>
          </a:xfrm>
          <a:prstGeom prst="rect">
            <a:avLst/>
          </a:prstGeom>
          <a:noFill/>
        </p:spPr>
        <p:txBody>
          <a:bodyPr wrap="square" lIns="0" rIns="0" tIns="0" bIns="0" anchor="t">
            <a:spAutoFit/>
          </a:bodyPr>
          <a:lstStyle/>
          <a:p>
            <a:pPr algn="l">
              <a:lnSpc>
                <a:spcPct val="150000"/>
              </a:lnSpc>
            </a:pPr>
            <a:r>
              <a:rPr sz="1000" b="0" i="0">
                <a:solidFill>
                  <a:srgbClr val="C9A047"/>
                </a:solidFill>
                <a:latin typeface="Calibri"/>
              </a:rPr>
              <a:t>—  </a:t>
            </a:r>
            <a:r>
              <a:rPr sz="1000" b="1" i="0">
                <a:solidFill>
                  <a:srgbClr val="EEF0F4"/>
                </a:solidFill>
                <a:latin typeface="Calibri"/>
              </a:rPr>
              <a:t>Fuentes de scraping: </a:t>
            </a:r>
            <a:r>
              <a:rPr sz="1000" b="0" i="0">
                <a:solidFill>
                  <a:srgbClr val="C7CDD8"/>
                </a:solidFill>
                <a:latin typeface="Calibri"/>
              </a:rPr>
              <a:t>MHVillage para MH, Manheim para autos, BoatTrader para boats.</a:t>
            </a:r>
          </a:p>
        </p:txBody>
      </p:sp>
      <p:sp>
        <p:nvSpPr>
          <p:cNvPr id="22" name="TextBox 21"/>
          <p:cNvSpPr txBox="1"/>
          <p:nvPr/>
        </p:nvSpPr>
        <p:spPr>
          <a:xfrm>
            <a:off x="6370167" y="4937760"/>
            <a:ext cx="5272887" cy="457200"/>
          </a:xfrm>
          <a:prstGeom prst="rect">
            <a:avLst/>
          </a:prstGeom>
          <a:noFill/>
        </p:spPr>
        <p:txBody>
          <a:bodyPr wrap="square" lIns="0" rIns="0" tIns="0" bIns="0" anchor="t">
            <a:spAutoFit/>
          </a:bodyPr>
          <a:lstStyle/>
          <a:p>
            <a:pPr algn="l">
              <a:lnSpc>
                <a:spcPct val="150000"/>
              </a:lnSpc>
            </a:pPr>
            <a:r>
              <a:rPr sz="1000" b="0" i="0">
                <a:solidFill>
                  <a:srgbClr val="C9A047"/>
                </a:solidFill>
                <a:latin typeface="Calibri"/>
              </a:rPr>
              <a:t>—  </a:t>
            </a:r>
            <a:r>
              <a:rPr sz="1000" b="1" i="0">
                <a:solidFill>
                  <a:srgbClr val="EEF0F4"/>
                </a:solidFill>
                <a:latin typeface="Calibri"/>
              </a:rPr>
              <a:t>Prompts de los agentes: </a:t>
            </a:r>
            <a:r>
              <a:rPr sz="1000" b="0" i="0">
                <a:solidFill>
                  <a:srgbClr val="C7CDD8"/>
                </a:solidFill>
                <a:latin typeface="Calibri"/>
              </a:rPr>
              <a:t>agente de costos entiende pintura y tablaroca; gelcoat y bottom paint en boats.</a:t>
            </a:r>
          </a:p>
        </p:txBody>
      </p:sp>
      <p:sp>
        <p:nvSpPr>
          <p:cNvPr id="23" name="TextBox 22"/>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14  ·  PORTABILIDAD</a:t>
            </a:r>
          </a:p>
        </p:txBody>
      </p:sp>
      <p:sp>
        <p:nvSpPr>
          <p:cNvPr id="24" name="TextBox 23"/>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NÚCLEO + ASSET PACK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0058400" cy="548640"/>
          </a:xfrm>
          <a:prstGeom prst="rect">
            <a:avLst/>
          </a:prstGeom>
          <a:noFill/>
        </p:spPr>
        <p:txBody>
          <a:bodyPr wrap="square" lIns="0" rIns="0" tIns="0" bIns="0" anchor="t">
            <a:spAutoFit/>
          </a:bodyPr>
          <a:lstStyle/>
          <a:p>
            <a:pPr algn="l">
              <a:lnSpc>
                <a:spcPct val="130000"/>
              </a:lnSpc>
            </a:pPr>
            <a:r>
              <a:rPr sz="3000" b="0" i="0">
                <a:solidFill>
                  <a:srgbClr val="EEF0F4"/>
                </a:solidFill>
                <a:latin typeface="Georgia"/>
              </a:rPr>
              <a:t>Verticales donde el patrón calza</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LECTURA CUALITATIVA</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640080"/>
          </a:xfrm>
          <a:prstGeom prst="rect">
            <a:avLst/>
          </a:prstGeom>
          <a:noFill/>
        </p:spPr>
        <p:txBody>
          <a:bodyPr wrap="square" lIns="0" rIns="0" tIns="0" bIns="0" anchor="t">
            <a:spAutoFit/>
          </a:bodyPr>
          <a:lstStyle/>
          <a:p>
            <a:pPr algn="l">
              <a:lnSpc>
                <a:spcPct val="150000"/>
              </a:lnSpc>
            </a:pPr>
            <a:r>
              <a:rPr sz="1000" b="0" i="1">
                <a:solidFill>
                  <a:srgbClr val="8C95A8"/>
                </a:solidFill>
                <a:latin typeface="Calibri"/>
              </a:rPr>
              <a:t>No se incluyen tamaños de mercado en este documento porque son estimaciones de terceros que no he verificado. Lo que sigue es una lectura cualitativa basada en cuán literal es la analogía con el caso Maninos.</a:t>
            </a:r>
          </a:p>
        </p:txBody>
      </p:sp>
      <p:sp>
        <p:nvSpPr>
          <p:cNvPr id="7" name="TextBox 6"/>
          <p:cNvSpPr txBox="1"/>
          <p:nvPr/>
        </p:nvSpPr>
        <p:spPr>
          <a:xfrm>
            <a:off x="548640" y="2423160"/>
            <a:ext cx="237744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VERTICAL</a:t>
            </a:r>
          </a:p>
        </p:txBody>
      </p:sp>
      <p:sp>
        <p:nvSpPr>
          <p:cNvPr id="8" name="TextBox 7"/>
          <p:cNvSpPr txBox="1"/>
          <p:nvPr/>
        </p:nvSpPr>
        <p:spPr>
          <a:xfrm>
            <a:off x="2926080" y="2423160"/>
            <a:ext cx="457200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CÓMO ENCAJA CON EL MOTOR ACTUAL</a:t>
            </a:r>
          </a:p>
        </p:txBody>
      </p:sp>
      <p:sp>
        <p:nvSpPr>
          <p:cNvPr id="9" name="TextBox 8"/>
          <p:cNvSpPr txBox="1"/>
          <p:nvPr/>
        </p:nvSpPr>
        <p:spPr>
          <a:xfrm>
            <a:off x="7498080" y="2423160"/>
            <a:ext cx="4114800" cy="22860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QUÉ HAY QUE ADAPTAR</a:t>
            </a:r>
          </a:p>
        </p:txBody>
      </p:sp>
      <p:cxnSp>
        <p:nvCxnSpPr>
          <p:cNvPr id="10" name="Connector 9"/>
          <p:cNvCxnSpPr/>
          <p:nvPr/>
        </p:nvCxnSpPr>
        <p:spPr>
          <a:xfrm>
            <a:off x="548640" y="269748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788920"/>
            <a:ext cx="2240280" cy="640080"/>
          </a:xfrm>
          <a:prstGeom prst="rect">
            <a:avLst/>
          </a:prstGeom>
          <a:noFill/>
        </p:spPr>
        <p:txBody>
          <a:bodyPr wrap="square" lIns="0" rIns="0" tIns="0" bIns="0" anchor="t">
            <a:spAutoFit/>
          </a:bodyPr>
          <a:lstStyle/>
          <a:p>
            <a:pPr algn="l">
              <a:lnSpc>
                <a:spcPct val="140000"/>
              </a:lnSpc>
            </a:pPr>
            <a:r>
              <a:rPr sz="1100" b="1" i="0">
                <a:solidFill>
                  <a:srgbClr val="EEF0F4"/>
                </a:solidFill>
                <a:latin typeface="Calibri"/>
              </a:rPr>
              <a:t>BHPH used cars</a:t>
            </a:r>
          </a:p>
        </p:txBody>
      </p:sp>
      <p:sp>
        <p:nvSpPr>
          <p:cNvPr id="12" name="TextBox 11"/>
          <p:cNvSpPr txBox="1"/>
          <p:nvPr/>
        </p:nvSpPr>
        <p:spPr>
          <a:xfrm>
            <a:off x="2926080" y="2788920"/>
            <a:ext cx="44348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El loop comprar → reacondicionar → financiar → cobrar es idéntico. La cartera vencida y el tracking de pagos mensuales son la analogía más directa.</a:t>
            </a:r>
          </a:p>
        </p:txBody>
      </p:sp>
      <p:sp>
        <p:nvSpPr>
          <p:cNvPr id="13" name="TextBox 12"/>
          <p:cNvSpPr txBox="1"/>
          <p:nvPr/>
        </p:nvSpPr>
        <p:spPr>
          <a:xfrm>
            <a:off x="7498080" y="2788920"/>
            <a:ext cx="39776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Workflow de título por estado vía DMV. Integraciones starter-interrupt / GPS. Auctions como fuente.</a:t>
            </a:r>
          </a:p>
        </p:txBody>
      </p:sp>
      <p:cxnSp>
        <p:nvCxnSpPr>
          <p:cNvPr id="14" name="Connector 13"/>
          <p:cNvCxnSpPr/>
          <p:nvPr/>
        </p:nvCxnSpPr>
        <p:spPr>
          <a:xfrm>
            <a:off x="548640" y="339242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48640" y="3429000"/>
            <a:ext cx="2240280" cy="640080"/>
          </a:xfrm>
          <a:prstGeom prst="rect">
            <a:avLst/>
          </a:prstGeom>
          <a:noFill/>
        </p:spPr>
        <p:txBody>
          <a:bodyPr wrap="square" lIns="0" rIns="0" tIns="0" bIns="0" anchor="t">
            <a:spAutoFit/>
          </a:bodyPr>
          <a:lstStyle/>
          <a:p>
            <a:pPr algn="l">
              <a:lnSpc>
                <a:spcPct val="140000"/>
              </a:lnSpc>
            </a:pPr>
            <a:r>
              <a:rPr sz="1100" b="1" i="0">
                <a:solidFill>
                  <a:srgbClr val="EEF0F4"/>
                </a:solidFill>
                <a:latin typeface="Calibri"/>
              </a:rPr>
              <a:t>RV / travel trailers</a:t>
            </a:r>
          </a:p>
        </p:txBody>
      </p:sp>
      <p:sp>
        <p:nvSpPr>
          <p:cNvPr id="16" name="TextBox 15"/>
          <p:cNvSpPr txBox="1"/>
          <p:nvPr/>
        </p:nvSpPr>
        <p:spPr>
          <a:xfrm>
            <a:off x="2926080" y="3429000"/>
            <a:ext cx="44348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El concepto de “Revisar Casa” se mapea casi sin cambios al PDI (Pre-Delivery Inspection). El ciclo es el mismo.</a:t>
            </a:r>
          </a:p>
        </p:txBody>
      </p:sp>
      <p:sp>
        <p:nvSpPr>
          <p:cNvPr id="17" name="TextBox 16"/>
          <p:cNvSpPr txBox="1"/>
          <p:nvPr/>
        </p:nvSpPr>
        <p:spPr>
          <a:xfrm>
            <a:off x="7498080" y="3429000"/>
            <a:ext cx="39776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Schema del activo (motorhome vs towable). Plantilla de inspección PDI.</a:t>
            </a:r>
          </a:p>
        </p:txBody>
      </p:sp>
      <p:cxnSp>
        <p:nvCxnSpPr>
          <p:cNvPr id="18" name="Connector 17"/>
          <p:cNvCxnSpPr/>
          <p:nvPr/>
        </p:nvCxnSpPr>
        <p:spPr>
          <a:xfrm>
            <a:off x="548640" y="403250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069080"/>
            <a:ext cx="2240280" cy="640080"/>
          </a:xfrm>
          <a:prstGeom prst="rect">
            <a:avLst/>
          </a:prstGeom>
          <a:noFill/>
        </p:spPr>
        <p:txBody>
          <a:bodyPr wrap="square" lIns="0" rIns="0" tIns="0" bIns="0" anchor="t">
            <a:spAutoFit/>
          </a:bodyPr>
          <a:lstStyle/>
          <a:p>
            <a:pPr algn="l">
              <a:lnSpc>
                <a:spcPct val="140000"/>
              </a:lnSpc>
            </a:pPr>
            <a:r>
              <a:rPr sz="1100" b="1" i="0">
                <a:solidFill>
                  <a:srgbClr val="EEF0F4"/>
                </a:solidFill>
                <a:latin typeface="Calibri"/>
              </a:rPr>
              <a:t>Boats (used)</a:t>
            </a:r>
          </a:p>
        </p:txBody>
      </p:sp>
      <p:sp>
        <p:nvSpPr>
          <p:cNvPr id="20" name="TextBox 19"/>
          <p:cNvSpPr txBox="1"/>
          <p:nvPr/>
        </p:nvSpPr>
        <p:spPr>
          <a:xfrm>
            <a:off x="2926080" y="4069080"/>
            <a:ext cx="44348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Reacondicionamiento estándar (gelcoat, motor, tapizado). Título estatal análogo. Financiamiento propio es el vacío más grande.</a:t>
            </a:r>
          </a:p>
        </p:txBody>
      </p:sp>
      <p:sp>
        <p:nvSpPr>
          <p:cNvPr id="21" name="TextBox 20"/>
          <p:cNvSpPr txBox="1"/>
          <p:nvPr/>
        </p:nvSpPr>
        <p:spPr>
          <a:xfrm>
            <a:off x="7498080" y="4069080"/>
            <a:ext cx="39776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HIN + datos de motor / trailer en el schema. Estacionalidad. USCG para vessels &gt; 5 net tons.</a:t>
            </a:r>
          </a:p>
        </p:txBody>
      </p:sp>
      <p:cxnSp>
        <p:nvCxnSpPr>
          <p:cNvPr id="22" name="Connector 21"/>
          <p:cNvCxnSpPr/>
          <p:nvPr/>
        </p:nvCxnSpPr>
        <p:spPr>
          <a:xfrm>
            <a:off x="548640" y="467258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4709160"/>
            <a:ext cx="2240280" cy="640080"/>
          </a:xfrm>
          <a:prstGeom prst="rect">
            <a:avLst/>
          </a:prstGeom>
          <a:noFill/>
        </p:spPr>
        <p:txBody>
          <a:bodyPr wrap="square" lIns="0" rIns="0" tIns="0" bIns="0" anchor="t">
            <a:spAutoFit/>
          </a:bodyPr>
          <a:lstStyle/>
          <a:p>
            <a:pPr algn="l">
              <a:lnSpc>
                <a:spcPct val="140000"/>
              </a:lnSpc>
            </a:pPr>
            <a:r>
              <a:rPr sz="1100" b="1" i="0">
                <a:solidFill>
                  <a:srgbClr val="EEF0F4"/>
                </a:solidFill>
                <a:latin typeface="Calibri"/>
              </a:rPr>
              <a:t>Tiny homes / park models / ADU</a:t>
            </a:r>
          </a:p>
        </p:txBody>
      </p:sp>
      <p:sp>
        <p:nvSpPr>
          <p:cNvPr id="24" name="TextBox 23"/>
          <p:cNvSpPr txBox="1"/>
          <p:nvPr/>
        </p:nvSpPr>
        <p:spPr>
          <a:xfrm>
            <a:off x="2926080" y="4709160"/>
            <a:ext cx="44348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Casi 1:1 con MH. Mismo título en muchos estados.</a:t>
            </a:r>
          </a:p>
        </p:txBody>
      </p:sp>
      <p:sp>
        <p:nvSpPr>
          <p:cNvPr id="25" name="TextBox 24"/>
          <p:cNvSpPr txBox="1"/>
          <p:nvPr/>
        </p:nvSpPr>
        <p:spPr>
          <a:xfrm>
            <a:off x="7498080" y="4709160"/>
            <a:ext cx="39776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Volumen pequeño; tiene más sentido como módulo dentro de un dealer MH que como vertical independiente.</a:t>
            </a:r>
          </a:p>
        </p:txBody>
      </p:sp>
      <p:cxnSp>
        <p:nvCxnSpPr>
          <p:cNvPr id="26" name="Connector 25"/>
          <p:cNvCxnSpPr/>
          <p:nvPr/>
        </p:nvCxnSpPr>
        <p:spPr>
          <a:xfrm>
            <a:off x="548640" y="531266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48640" y="5349240"/>
            <a:ext cx="2240280" cy="640080"/>
          </a:xfrm>
          <a:prstGeom prst="rect">
            <a:avLst/>
          </a:prstGeom>
          <a:noFill/>
        </p:spPr>
        <p:txBody>
          <a:bodyPr wrap="square" lIns="0" rIns="0" tIns="0" bIns="0" anchor="t">
            <a:spAutoFit/>
          </a:bodyPr>
          <a:lstStyle/>
          <a:p>
            <a:pPr algn="l">
              <a:lnSpc>
                <a:spcPct val="140000"/>
              </a:lnSpc>
            </a:pPr>
            <a:r>
              <a:rPr sz="1100" b="1" i="0">
                <a:solidFill>
                  <a:srgbClr val="EEF0F4"/>
                </a:solidFill>
                <a:latin typeface="Calibri"/>
              </a:rPr>
              <a:t>Maquinaria pesada / tractores</a:t>
            </a:r>
          </a:p>
        </p:txBody>
      </p:sp>
      <p:sp>
        <p:nvSpPr>
          <p:cNvPr id="28" name="TextBox 27"/>
          <p:cNvSpPr txBox="1"/>
          <p:nvPr/>
        </p:nvSpPr>
        <p:spPr>
          <a:xfrm>
            <a:off x="2926080" y="5349240"/>
            <a:ext cx="44348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Adquisición y reacondicionamiento encajan. El financiamiento propio es raro porque la captiva del fabricante domina.</a:t>
            </a:r>
          </a:p>
        </p:txBody>
      </p:sp>
      <p:sp>
        <p:nvSpPr>
          <p:cNvPr id="29" name="TextBox 28"/>
          <p:cNvSpPr txBox="1"/>
          <p:nvPr/>
        </p:nvSpPr>
        <p:spPr>
          <a:xfrm>
            <a:off x="7498080" y="5349240"/>
            <a:ext cx="3977640" cy="640080"/>
          </a:xfrm>
          <a:prstGeom prst="rect">
            <a:avLst/>
          </a:prstGeom>
          <a:noFill/>
        </p:spPr>
        <p:txBody>
          <a:bodyPr wrap="square" lIns="0" rIns="0" tIns="0" bIns="0" anchor="t">
            <a:spAutoFit/>
          </a:bodyPr>
          <a:lstStyle/>
          <a:p>
            <a:pPr algn="l">
              <a:lnSpc>
                <a:spcPct val="140000"/>
              </a:lnSpc>
            </a:pPr>
            <a:r>
              <a:rPr sz="950" b="0" i="0">
                <a:solidFill>
                  <a:srgbClr val="C7CDD8"/>
                </a:solidFill>
                <a:latin typeface="Calibri"/>
              </a:rPr>
              <a:t>UCC-1 en lugar de título. Lock-in de OEM hace el GTM más difícil.</a:t>
            </a:r>
          </a:p>
        </p:txBody>
      </p:sp>
      <p:cxnSp>
        <p:nvCxnSpPr>
          <p:cNvPr id="30" name="Connector 29"/>
          <p:cNvCxnSpPr/>
          <p:nvPr/>
        </p:nvCxnSpPr>
        <p:spPr>
          <a:xfrm>
            <a:off x="548640" y="5952744"/>
            <a:ext cx="11094415" cy="0"/>
          </a:xfrm>
          <a:prstGeom prst="line">
            <a:avLst/>
          </a:prstGeom>
          <a:ln w="6350">
            <a:solidFill>
              <a:srgbClr val="1F2A3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15  ·  VERTICALES</a:t>
            </a:r>
          </a:p>
        </p:txBody>
      </p:sp>
      <p:sp>
        <p:nvSpPr>
          <p:cNvPr id="32" name="TextBox 31"/>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LECTURA CUALITATIVA  ·  SIN CIFRAS DE TERCEROS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9144000" cy="548640"/>
          </a:xfrm>
          <a:prstGeom prst="rect">
            <a:avLst/>
          </a:prstGeom>
          <a:noFill/>
        </p:spPr>
        <p:txBody>
          <a:bodyPr wrap="square" lIns="0" rIns="0" tIns="0" bIns="0" anchor="t">
            <a:spAutoFit/>
          </a:bodyPr>
          <a:lstStyle/>
          <a:p>
            <a:pPr algn="l">
              <a:lnSpc>
                <a:spcPct val="130000"/>
              </a:lnSpc>
            </a:pPr>
            <a:r>
              <a:rPr sz="3000" b="0" i="0">
                <a:solidFill>
                  <a:srgbClr val="EEF0F4"/>
                </a:solidFill>
                <a:latin typeface="Georgia"/>
              </a:rPr>
              <a:t>Dónde está hoy Maninos OS</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ESTADO VERIFICABLE</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1371600"/>
            <a:ext cx="11094415" cy="640080"/>
          </a:xfrm>
          <a:prstGeom prst="rect">
            <a:avLst/>
          </a:prstGeom>
          <a:noFill/>
        </p:spPr>
        <p:txBody>
          <a:bodyPr wrap="square" lIns="0" rIns="0" tIns="0" bIns="0" anchor="t">
            <a:spAutoFit/>
          </a:bodyPr>
          <a:lstStyle/>
          <a:p>
            <a:pPr algn="l">
              <a:lnSpc>
                <a:spcPct val="150000"/>
              </a:lnSpc>
            </a:pPr>
            <a:r>
              <a:rPr sz="1100" b="0" i="0">
                <a:solidFill>
                  <a:srgbClr val="C7CDD8"/>
                </a:solidFill>
                <a:latin typeface="Calibri"/>
              </a:rPr>
              <a:t>Lo siguiente es lo que hay en el repositorio y en producción ahora mismo, contado contra el código actual.</a:t>
            </a:r>
          </a:p>
        </p:txBody>
      </p:sp>
      <p:cxnSp>
        <p:nvCxnSpPr>
          <p:cNvPr id="7" name="Connector 6"/>
          <p:cNvCxnSpPr/>
          <p:nvPr/>
        </p:nvCxnSpPr>
        <p:spPr>
          <a:xfrm>
            <a:off x="548640" y="2194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 y="301752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2331720"/>
            <a:ext cx="2218883" cy="457200"/>
          </a:xfrm>
          <a:prstGeom prst="rect">
            <a:avLst/>
          </a:prstGeom>
          <a:noFill/>
        </p:spPr>
        <p:txBody>
          <a:bodyPr wrap="square" lIns="0" rIns="0" tIns="0" bIns="0" anchor="t">
            <a:spAutoFit/>
          </a:bodyPr>
          <a:lstStyle/>
          <a:p>
            <a:pPr algn="l">
              <a:lnSpc>
                <a:spcPct val="130000"/>
              </a:lnSpc>
            </a:pPr>
            <a:r>
              <a:rPr sz="2800" b="0" i="0">
                <a:solidFill>
                  <a:srgbClr val="EEF0F4"/>
                </a:solidFill>
                <a:latin typeface="Georgia"/>
              </a:rPr>
              <a:t>3</a:t>
            </a:r>
          </a:p>
        </p:txBody>
      </p:sp>
      <p:sp>
        <p:nvSpPr>
          <p:cNvPr id="10" name="TextBox 9"/>
          <p:cNvSpPr txBox="1"/>
          <p:nvPr/>
        </p:nvSpPr>
        <p:spPr>
          <a:xfrm>
            <a:off x="594360" y="278892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PORTALES EN PRODUCCIÓN</a:t>
            </a:r>
          </a:p>
        </p:txBody>
      </p:sp>
      <p:cxnSp>
        <p:nvCxnSpPr>
          <p:cNvPr id="11" name="Connector 10"/>
          <p:cNvCxnSpPr/>
          <p:nvPr/>
        </p:nvCxnSpPr>
        <p:spPr>
          <a:xfrm>
            <a:off x="2767523.0" y="224028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813243" y="2331720"/>
            <a:ext cx="2218883" cy="457200"/>
          </a:xfrm>
          <a:prstGeom prst="rect">
            <a:avLst/>
          </a:prstGeom>
          <a:noFill/>
        </p:spPr>
        <p:txBody>
          <a:bodyPr wrap="square" lIns="0" rIns="0" tIns="0" bIns="0" anchor="t">
            <a:spAutoFit/>
          </a:bodyPr>
          <a:lstStyle/>
          <a:p>
            <a:pPr algn="l">
              <a:lnSpc>
                <a:spcPct val="130000"/>
              </a:lnSpc>
            </a:pPr>
            <a:r>
              <a:rPr sz="2800" b="0" i="0">
                <a:solidFill>
                  <a:srgbClr val="EEF0F4"/>
                </a:solidFill>
                <a:latin typeface="Georgia"/>
              </a:rPr>
              <a:t>53</a:t>
            </a:r>
          </a:p>
        </p:txBody>
      </p:sp>
      <p:sp>
        <p:nvSpPr>
          <p:cNvPr id="13" name="TextBox 12"/>
          <p:cNvSpPr txBox="1"/>
          <p:nvPr/>
        </p:nvSpPr>
        <p:spPr>
          <a:xfrm>
            <a:off x="2813243" y="278892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PÁGINAS FRONTEND (18+19+16)</a:t>
            </a:r>
          </a:p>
        </p:txBody>
      </p:sp>
      <p:cxnSp>
        <p:nvCxnSpPr>
          <p:cNvPr id="14" name="Connector 13"/>
          <p:cNvCxnSpPr/>
          <p:nvPr/>
        </p:nvCxnSpPr>
        <p:spPr>
          <a:xfrm>
            <a:off x="4986406.0" y="224028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32126" y="2331720"/>
            <a:ext cx="2218883" cy="457200"/>
          </a:xfrm>
          <a:prstGeom prst="rect">
            <a:avLst/>
          </a:prstGeom>
          <a:noFill/>
        </p:spPr>
        <p:txBody>
          <a:bodyPr wrap="square" lIns="0" rIns="0" tIns="0" bIns="0" anchor="t">
            <a:spAutoFit/>
          </a:bodyPr>
          <a:lstStyle/>
          <a:p>
            <a:pPr algn="l">
              <a:lnSpc>
                <a:spcPct val="130000"/>
              </a:lnSpc>
            </a:pPr>
            <a:r>
              <a:rPr sz="2800" b="0" i="0">
                <a:solidFill>
                  <a:srgbClr val="EEF0F4"/>
                </a:solidFill>
                <a:latin typeface="Georgia"/>
              </a:rPr>
              <a:t>40</a:t>
            </a:r>
          </a:p>
        </p:txBody>
      </p:sp>
      <p:sp>
        <p:nvSpPr>
          <p:cNvPr id="16" name="TextBox 15"/>
          <p:cNvSpPr txBox="1"/>
          <p:nvPr/>
        </p:nvSpPr>
        <p:spPr>
          <a:xfrm>
            <a:off x="5032126" y="278892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ARCHIVOS DE RUTAS BACKEND</a:t>
            </a:r>
          </a:p>
        </p:txBody>
      </p:sp>
      <p:cxnSp>
        <p:nvCxnSpPr>
          <p:cNvPr id="17" name="Connector 16"/>
          <p:cNvCxnSpPr/>
          <p:nvPr/>
        </p:nvCxnSpPr>
        <p:spPr>
          <a:xfrm>
            <a:off x="7205289.0" y="224028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251009" y="2331720"/>
            <a:ext cx="2218883" cy="457200"/>
          </a:xfrm>
          <a:prstGeom prst="rect">
            <a:avLst/>
          </a:prstGeom>
          <a:noFill/>
        </p:spPr>
        <p:txBody>
          <a:bodyPr wrap="square" lIns="0" rIns="0" tIns="0" bIns="0" anchor="t">
            <a:spAutoFit/>
          </a:bodyPr>
          <a:lstStyle/>
          <a:p>
            <a:pPr algn="l">
              <a:lnSpc>
                <a:spcPct val="130000"/>
              </a:lnSpc>
            </a:pPr>
            <a:r>
              <a:rPr sz="2800" b="0" i="0">
                <a:solidFill>
                  <a:srgbClr val="EEF0F4"/>
                </a:solidFill>
                <a:latin typeface="Georgia"/>
              </a:rPr>
              <a:t>6</a:t>
            </a:r>
          </a:p>
        </p:txBody>
      </p:sp>
      <p:sp>
        <p:nvSpPr>
          <p:cNvPr id="19" name="TextBox 18"/>
          <p:cNvSpPr txBox="1"/>
          <p:nvPr/>
        </p:nvSpPr>
        <p:spPr>
          <a:xfrm>
            <a:off x="7251009" y="278892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AGENTES ESPECIALIZADOS</a:t>
            </a:r>
          </a:p>
        </p:txBody>
      </p:sp>
      <p:cxnSp>
        <p:nvCxnSpPr>
          <p:cNvPr id="20" name="Connector 19"/>
          <p:cNvCxnSpPr/>
          <p:nvPr/>
        </p:nvCxnSpPr>
        <p:spPr>
          <a:xfrm>
            <a:off x="9424172.0" y="2240280"/>
            <a:ext cx="0.0" cy="777240"/>
          </a:xfrm>
          <a:prstGeom prst="line">
            <a:avLst/>
          </a:prstGeom>
          <a:ln w="9525">
            <a:solidFill>
              <a:srgbClr val="1F2A3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469892" y="2331720"/>
            <a:ext cx="2218883" cy="457200"/>
          </a:xfrm>
          <a:prstGeom prst="rect">
            <a:avLst/>
          </a:prstGeom>
          <a:noFill/>
        </p:spPr>
        <p:txBody>
          <a:bodyPr wrap="square" lIns="0" rIns="0" tIns="0" bIns="0" anchor="t">
            <a:spAutoFit/>
          </a:bodyPr>
          <a:lstStyle/>
          <a:p>
            <a:pPr algn="l">
              <a:lnSpc>
                <a:spcPct val="130000"/>
              </a:lnSpc>
            </a:pPr>
            <a:r>
              <a:rPr sz="2800" b="0" i="0">
                <a:solidFill>
                  <a:srgbClr val="EEF0F4"/>
                </a:solidFill>
                <a:latin typeface="Georgia"/>
              </a:rPr>
              <a:t>10</a:t>
            </a:r>
          </a:p>
        </p:txBody>
      </p:sp>
      <p:sp>
        <p:nvSpPr>
          <p:cNvPr id="22" name="TextBox 21"/>
          <p:cNvSpPr txBox="1"/>
          <p:nvPr/>
        </p:nvSpPr>
        <p:spPr>
          <a:xfrm>
            <a:off x="9469892" y="2788920"/>
            <a:ext cx="2218883" cy="182880"/>
          </a:xfrm>
          <a:prstGeom prst="rect">
            <a:avLst/>
          </a:prstGeom>
          <a:noFill/>
        </p:spPr>
        <p:txBody>
          <a:bodyPr wrap="square" lIns="0" rIns="0" tIns="0" bIns="0" anchor="t">
            <a:spAutoFit/>
          </a:bodyPr>
          <a:lstStyle/>
          <a:p>
            <a:pPr algn="l">
              <a:lnSpc>
                <a:spcPct val="130000"/>
              </a:lnSpc>
            </a:pPr>
            <a:r>
              <a:rPr sz="700" b="1" i="0" spc="180">
                <a:solidFill>
                  <a:srgbClr val="8C95A8"/>
                </a:solidFill>
                <a:latin typeface="Calibri"/>
              </a:rPr>
              <a:t>JOBS EN SCHEDULER</a:t>
            </a:r>
          </a:p>
        </p:txBody>
      </p:sp>
      <p:cxnSp>
        <p:nvCxnSpPr>
          <p:cNvPr id="23" name="Connector 22"/>
          <p:cNvCxnSpPr/>
          <p:nvPr/>
        </p:nvCxnSpPr>
        <p:spPr>
          <a:xfrm>
            <a:off x="548640" y="338328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36118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EN PRODUCCIÓN</a:t>
            </a:r>
          </a:p>
        </p:txBody>
      </p:sp>
      <p:sp>
        <p:nvSpPr>
          <p:cNvPr id="25" name="TextBox 24"/>
          <p:cNvSpPr txBox="1"/>
          <p:nvPr/>
        </p:nvSpPr>
        <p:spPr>
          <a:xfrm>
            <a:off x="548640" y="393192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Operación real diaria del staff de Maninos en el portal Homes</a:t>
            </a:r>
          </a:p>
        </p:txBody>
      </p:sp>
      <p:sp>
        <p:nvSpPr>
          <p:cNvPr id="26" name="TextBox 25"/>
          <p:cNvSpPr txBox="1"/>
          <p:nvPr/>
        </p:nvSpPr>
        <p:spPr>
          <a:xfrm>
            <a:off x="548640" y="429768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Inversores activos consultando sus reportes en Capital</a:t>
            </a:r>
          </a:p>
        </p:txBody>
      </p:sp>
      <p:sp>
        <p:nvSpPr>
          <p:cNvPr id="27" name="TextBox 26"/>
          <p:cNvSpPr txBox="1"/>
          <p:nvPr/>
        </p:nvSpPr>
        <p:spPr>
          <a:xfrm>
            <a:off x="548640" y="466344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Clientes reportando pagos mensuales desde su cuenta en Clientes</a:t>
            </a:r>
          </a:p>
        </p:txBody>
      </p:sp>
      <p:sp>
        <p:nvSpPr>
          <p:cNvPr id="28" name="TextBox 27"/>
          <p:cNvSpPr txBox="1"/>
          <p:nvPr/>
        </p:nvSpPr>
        <p:spPr>
          <a:xfrm>
            <a:off x="548640" y="502920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Scheduler diario contra TDHCA dejando audit en scheduler_runs</a:t>
            </a:r>
          </a:p>
        </p:txBody>
      </p:sp>
      <p:sp>
        <p:nvSpPr>
          <p:cNvPr id="29" name="TextBox 28"/>
          <p:cNvSpPr txBox="1"/>
          <p:nvPr/>
        </p:nvSpPr>
        <p:spPr>
          <a:xfrm>
            <a:off x="548640" y="5394960"/>
            <a:ext cx="5272887" cy="36576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Agentes de IA en flujos de “Revisar Casa” y planificación de renovación</a:t>
            </a:r>
          </a:p>
        </p:txBody>
      </p:sp>
      <p:sp>
        <p:nvSpPr>
          <p:cNvPr id="30" name="TextBox 29"/>
          <p:cNvSpPr txBox="1"/>
          <p:nvPr/>
        </p:nvSpPr>
        <p:spPr>
          <a:xfrm>
            <a:off x="6370167" y="3611880"/>
            <a:ext cx="5272887" cy="274320"/>
          </a:xfrm>
          <a:prstGeom prst="rect">
            <a:avLst/>
          </a:prstGeom>
          <a:noFill/>
        </p:spPr>
        <p:txBody>
          <a:bodyPr wrap="square" lIns="0" rIns="0" tIns="0" bIns="0" anchor="t">
            <a:spAutoFit/>
          </a:bodyPr>
          <a:lstStyle/>
          <a:p>
            <a:pPr algn="l">
              <a:lnSpc>
                <a:spcPct val="130000"/>
              </a:lnSpc>
            </a:pPr>
            <a:r>
              <a:rPr sz="800" b="1" i="0" spc="200">
                <a:solidFill>
                  <a:srgbClr val="C9A047"/>
                </a:solidFill>
                <a:latin typeface="Calibri"/>
              </a:rPr>
              <a:t>ÁREAS QUE AÚN TIENEN DEUDA</a:t>
            </a:r>
          </a:p>
        </p:txBody>
      </p:sp>
      <p:sp>
        <p:nvSpPr>
          <p:cNvPr id="31" name="TextBox 30"/>
          <p:cNvSpPr txBox="1"/>
          <p:nvPr/>
        </p:nvSpPr>
        <p:spPr>
          <a:xfrm>
            <a:off x="6370167" y="39319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Multi-tenant: hoy es instancia única para Maninos. Falta separación de tenants.</a:t>
            </a:r>
          </a:p>
        </p:txBody>
      </p:sp>
      <p:sp>
        <p:nvSpPr>
          <p:cNvPr id="32" name="TextBox 31"/>
          <p:cNvSpPr txBox="1"/>
          <p:nvPr/>
        </p:nvSpPr>
        <p:spPr>
          <a:xfrm>
            <a:off x="6370167" y="43891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White-label de marca y dominio.</a:t>
            </a:r>
          </a:p>
        </p:txBody>
      </p:sp>
      <p:sp>
        <p:nvSpPr>
          <p:cNvPr id="33" name="TextBox 32"/>
          <p:cNvSpPr txBox="1"/>
          <p:nvPr/>
        </p:nvSpPr>
        <p:spPr>
          <a:xfrm>
            <a:off x="6370167" y="48463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Stripe está como label en dropdowns pero no integrado de verdad. Pagos online aún no existen — todo es transferencia con confirmación.</a:t>
            </a:r>
          </a:p>
        </p:txBody>
      </p:sp>
      <p:sp>
        <p:nvSpPr>
          <p:cNvPr id="34" name="TextBox 33"/>
          <p:cNvSpPr txBox="1"/>
          <p:nvPr/>
        </p:nvSpPr>
        <p:spPr>
          <a:xfrm>
            <a:off x="6370167" y="5303520"/>
            <a:ext cx="5272887" cy="457200"/>
          </a:xfrm>
          <a:prstGeom prst="rect">
            <a:avLst/>
          </a:prstGeom>
          <a:noFill/>
        </p:spPr>
        <p:txBody>
          <a:bodyPr wrap="square" lIns="0" rIns="0" tIns="0" bIns="0" anchor="t">
            <a:spAutoFit/>
          </a:bodyPr>
          <a:lstStyle/>
          <a:p>
            <a:pPr algn="l">
              <a:lnSpc>
                <a:spcPct val="150000"/>
              </a:lnSpc>
            </a:pPr>
            <a:r>
              <a:rPr sz="1000" b="0" i="0">
                <a:solidFill>
                  <a:srgbClr val="C7CDD8"/>
                </a:solidFill>
                <a:latin typeface="Calibri"/>
              </a:rPr>
              <a:t>—  Asset Pack como abstracción explícita: hoy las reglas MH están dispersas en código; portarlas requiere refactor.</a:t>
            </a:r>
          </a:p>
        </p:txBody>
      </p:sp>
      <p:sp>
        <p:nvSpPr>
          <p:cNvPr id="35" name="TextBox 34"/>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16  ·  ESTADO ACTUAL</a:t>
            </a:r>
          </a:p>
        </p:txBody>
      </p:sp>
      <p:sp>
        <p:nvSpPr>
          <p:cNvPr id="36" name="TextBox 35"/>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PRODUCCIÓN REAL  ·  DEUDA EXPLÍCITA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7315200" cy="548640"/>
          </a:xfrm>
          <a:prstGeom prst="rect">
            <a:avLst/>
          </a:prstGeom>
          <a:noFill/>
        </p:spPr>
        <p:txBody>
          <a:bodyPr wrap="square" lIns="0" rIns="0" tIns="0" bIns="0" anchor="t">
            <a:spAutoFit/>
          </a:bodyPr>
          <a:lstStyle/>
          <a:p>
            <a:pPr algn="l">
              <a:lnSpc>
                <a:spcPct val="130000"/>
              </a:lnSpc>
            </a:pPr>
            <a:r>
              <a:rPr sz="3200" b="0" i="0">
                <a:solidFill>
                  <a:srgbClr val="EEF0F4"/>
                </a:solidFill>
                <a:latin typeface="Georgia"/>
              </a:rPr>
              <a:t>En una frase</a:t>
            </a:r>
          </a:p>
        </p:txBody>
      </p:sp>
      <p:sp>
        <p:nvSpPr>
          <p:cNvPr id="4" name="TextBox 3"/>
          <p:cNvSpPr txBox="1"/>
          <p:nvPr/>
        </p:nvSpPr>
        <p:spPr>
          <a:xfrm>
            <a:off x="548640" y="411480"/>
            <a:ext cx="11094415" cy="548640"/>
          </a:xfrm>
          <a:prstGeom prst="rect">
            <a:avLst/>
          </a:prstGeom>
          <a:noFill/>
        </p:spPr>
        <p:txBody>
          <a:bodyPr wrap="square" lIns="0" rIns="0" tIns="0" bIns="0" anchor="ctr">
            <a:spAutoFit/>
          </a:bodyPr>
          <a:lstStyle/>
          <a:p>
            <a:pPr algn="r">
              <a:lnSpc>
                <a:spcPct val="130000"/>
              </a:lnSpc>
            </a:pPr>
            <a:r>
              <a:rPr sz="800" b="1" i="0" spc="250">
                <a:solidFill>
                  <a:srgbClr val="8C95A8"/>
                </a:solidFill>
                <a:latin typeface="Calibri"/>
              </a:rPr>
              <a:t>CIERRE</a:t>
            </a:r>
          </a:p>
        </p:txBody>
      </p:sp>
      <p:cxnSp>
        <p:nvCxnSpPr>
          <p:cNvPr id="5" name="Connector 4"/>
          <p:cNvCxnSpPr/>
          <p:nvPr/>
        </p:nvCxnSpPr>
        <p:spPr>
          <a:xfrm>
            <a:off x="548640" y="105156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22960" y="1828800"/>
            <a:ext cx="0" cy="2377440"/>
          </a:xfrm>
          <a:prstGeom prst="line">
            <a:avLst/>
          </a:prstGeom>
          <a:ln w="31750">
            <a:solidFill>
              <a:srgbClr val="C9A04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97280" y="1828800"/>
            <a:ext cx="10545775" cy="2377440"/>
          </a:xfrm>
          <a:prstGeom prst="rect">
            <a:avLst/>
          </a:prstGeom>
          <a:noFill/>
        </p:spPr>
        <p:txBody>
          <a:bodyPr wrap="square" lIns="0" rIns="0" tIns="0" bIns="0" anchor="t">
            <a:spAutoFit/>
          </a:bodyPr>
          <a:lstStyle/>
          <a:p>
            <a:pPr algn="l">
              <a:lnSpc>
                <a:spcPct val="140000"/>
              </a:lnSpc>
            </a:pPr>
            <a:r>
              <a:rPr sz="2100" b="0" i="1">
                <a:solidFill>
                  <a:srgbClr val="EEF0F4"/>
                </a:solidFill>
                <a:latin typeface="Georgia"/>
              </a:rPr>
              <a:t>“Maninos OS es la disciplina operativa de un dealer especializado de mobile homes en Texas — convertida en código. Lo que era spreadsheet, WhatsApp, QuickBooks y procedimientos no escritos, ahora es un sistema con seis agentes de IA, GL propio, módulo de financiamiento, portal del cliente y audit log.”</a:t>
            </a:r>
          </a:p>
        </p:txBody>
      </p:sp>
      <p:cxnSp>
        <p:nvCxnSpPr>
          <p:cNvPr id="8" name="Connector 7"/>
          <p:cNvCxnSpPr/>
          <p:nvPr/>
        </p:nvCxnSpPr>
        <p:spPr>
          <a:xfrm>
            <a:off x="548640" y="452628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4754880"/>
            <a:ext cx="11094415" cy="822960"/>
          </a:xfrm>
          <a:prstGeom prst="rect">
            <a:avLst/>
          </a:prstGeom>
          <a:noFill/>
        </p:spPr>
        <p:txBody>
          <a:bodyPr wrap="square" lIns="0" rIns="0" tIns="0" bIns="0" anchor="t">
            <a:spAutoFit/>
          </a:bodyPr>
          <a:lstStyle/>
          <a:p>
            <a:pPr algn="l">
              <a:lnSpc>
                <a:spcPct val="150000"/>
              </a:lnSpc>
            </a:pPr>
            <a:r>
              <a:rPr sz="1500" b="0" i="0">
                <a:solidFill>
                  <a:srgbClr val="C7CDD8"/>
                </a:solidFill>
                <a:latin typeface="Georgia"/>
              </a:rPr>
              <a:t>El siguiente paso natural es separar el motor de las reglas específicas de Maninos, formalizar el concepto de Asset Pack, y permitir que otros dealers — primero de mobile homes en otros estados, después de RV o BHPH — corran sobre la misma infraestructura.</a:t>
            </a:r>
          </a:p>
        </p:txBody>
      </p:sp>
      <p:cxnSp>
        <p:nvCxnSpPr>
          <p:cNvPr id="10" name="Connector 9"/>
          <p:cNvCxnSpPr/>
          <p:nvPr/>
        </p:nvCxnSpPr>
        <p:spPr>
          <a:xfrm>
            <a:off x="548640" y="6035040"/>
            <a:ext cx="11094415" cy="0"/>
          </a:xfrm>
          <a:prstGeom prst="line">
            <a:avLst/>
          </a:prstGeom>
          <a:ln w="9525">
            <a:solidFill>
              <a:srgbClr val="2A365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6217920"/>
            <a:ext cx="7315200" cy="365760"/>
          </a:xfrm>
          <a:prstGeom prst="rect">
            <a:avLst/>
          </a:prstGeom>
          <a:noFill/>
        </p:spPr>
        <p:txBody>
          <a:bodyPr wrap="square" lIns="0" rIns="0" tIns="0" bIns="0" anchor="t">
            <a:spAutoFit/>
          </a:bodyPr>
          <a:lstStyle/>
          <a:p>
            <a:pPr algn="l">
              <a:lnSpc>
                <a:spcPct val="130000"/>
              </a:lnSpc>
            </a:pPr>
            <a:r>
              <a:rPr sz="1600" b="0" i="0">
                <a:solidFill>
                  <a:srgbClr val="EEF0F4"/>
                </a:solidFill>
                <a:latin typeface="Georgia"/>
              </a:rPr>
              <a:t>Maninos OS</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lnSpc>
                <a:spcPct val="130000"/>
              </a:lnSpc>
            </a:pPr>
            <a:r>
              <a:rPr sz="900" b="0" i="1">
                <a:solidFill>
                  <a:srgbClr val="8C95A8"/>
                </a:solidFill>
                <a:latin typeface="Calibri"/>
              </a:rPr>
              <a:t>Documento descriptivo · 2026</a:t>
            </a:r>
          </a:p>
        </p:txBody>
      </p:sp>
      <p:sp>
        <p:nvSpPr>
          <p:cNvPr id="13" name="TextBox 12"/>
          <p:cNvSpPr txBox="1"/>
          <p:nvPr/>
        </p:nvSpPr>
        <p:spPr>
          <a:xfrm>
            <a:off x="548640" y="6217920"/>
            <a:ext cx="11094415" cy="274320"/>
          </a:xfrm>
          <a:prstGeom prst="rect">
            <a:avLst/>
          </a:prstGeom>
          <a:noFill/>
        </p:spPr>
        <p:txBody>
          <a:bodyPr wrap="square" lIns="0" rIns="0" tIns="0" bIns="0" anchor="t">
            <a:spAutoFit/>
          </a:bodyPr>
          <a:lstStyle/>
          <a:p>
            <a:pPr algn="r">
              <a:lnSpc>
                <a:spcPct val="130000"/>
              </a:lnSpc>
            </a:pPr>
            <a:r>
              <a:rPr sz="900" b="0" i="0">
                <a:solidFill>
                  <a:srgbClr val="8C95A8"/>
                </a:solidFill>
                <a:latin typeface="Calibri"/>
              </a:rPr>
              <a:t>Maninos Homes LLC</a:t>
            </a:r>
          </a:p>
        </p:txBody>
      </p:sp>
      <p:sp>
        <p:nvSpPr>
          <p:cNvPr id="14" name="TextBox 13"/>
          <p:cNvSpPr txBox="1"/>
          <p:nvPr/>
        </p:nvSpPr>
        <p:spPr>
          <a:xfrm>
            <a:off x="548640" y="6446520"/>
            <a:ext cx="11094415" cy="274320"/>
          </a:xfrm>
          <a:prstGeom prst="rect">
            <a:avLst/>
          </a:prstGeom>
          <a:noFill/>
        </p:spPr>
        <p:txBody>
          <a:bodyPr wrap="square" lIns="0" rIns="0" tIns="0" bIns="0" anchor="t">
            <a:spAutoFit/>
          </a:bodyPr>
          <a:lstStyle/>
          <a:p>
            <a:pPr algn="r">
              <a:lnSpc>
                <a:spcPct val="130000"/>
              </a:lnSpc>
            </a:pPr>
            <a:r>
              <a:rPr sz="900" b="0" i="0">
                <a:solidFill>
                  <a:srgbClr val="8C95A8"/>
                </a:solidFill>
                <a:latin typeface="Calibri"/>
              </a:rPr>
              <a:t>Maninos Capital LLC</a:t>
            </a:r>
          </a:p>
        </p:txBody>
      </p:sp>
      <p:sp>
        <p:nvSpPr>
          <p:cNvPr id="15" name="TextBox 14"/>
          <p:cNvSpPr txBox="1"/>
          <p:nvPr/>
        </p:nvSpPr>
        <p:spPr>
          <a:xfrm>
            <a:off x="548640" y="6492240"/>
            <a:ext cx="11094415" cy="228600"/>
          </a:xfrm>
          <a:prstGeom prst="rect">
            <a:avLst/>
          </a:prstGeom>
          <a:noFill/>
        </p:spPr>
        <p:txBody>
          <a:bodyPr wrap="square" lIns="0" rIns="0" tIns="0" bIns="0" anchor="t">
            <a:spAutoFit/>
          </a:bodyPr>
          <a:lstStyle/>
          <a:p>
            <a:pPr algn="l">
              <a:lnSpc>
                <a:spcPct val="130000"/>
              </a:lnSpc>
            </a:pPr>
            <a:r>
              <a:rPr sz="800" b="1" i="0" spc="200">
                <a:solidFill>
                  <a:srgbClr val="5A6478"/>
                </a:solidFill>
                <a:latin typeface="Calibri"/>
              </a:rPr>
              <a:t>17  ·  CIERRE</a:t>
            </a:r>
          </a:p>
        </p:txBody>
      </p:sp>
      <p:sp>
        <p:nvSpPr>
          <p:cNvPr id="16" name="TextBox 15"/>
          <p:cNvSpPr txBox="1"/>
          <p:nvPr/>
        </p:nvSpPr>
        <p:spPr>
          <a:xfrm>
            <a:off x="548640" y="6492240"/>
            <a:ext cx="11094415" cy="228600"/>
          </a:xfrm>
          <a:prstGeom prst="rect">
            <a:avLst/>
          </a:prstGeom>
          <a:noFill/>
        </p:spPr>
        <p:txBody>
          <a:bodyPr wrap="square" lIns="0" rIns="0" tIns="0" bIns="0" anchor="t">
            <a:spAutoFit/>
          </a:bodyPr>
          <a:lstStyle/>
          <a:p>
            <a:pPr algn="r">
              <a:lnSpc>
                <a:spcPct val="130000"/>
              </a:lnSpc>
            </a:pPr>
            <a:r>
              <a:rPr sz="800" b="1" i="0" spc="200">
                <a:solidFill>
                  <a:srgbClr val="5A6478"/>
                </a:solidFill>
                <a:latin typeface="Calibri"/>
              </a:rPr>
              <a:t>FIN DEL DOCUMENTO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