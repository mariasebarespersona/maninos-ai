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300">
                <a:solidFill>
                  <a:srgbClr val="8C95A8"/>
                </a:solidFill>
                <a:latin typeface="Calibri"/>
              </a:rPr>
              <a:t>MANINOS OS    ·    DESCRIPTIVE DOCUMENT    ·    VERSION 2026.04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9441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0" i="0">
                <a:solidFill>
                  <a:srgbClr val="EEF0F4"/>
                </a:solidFill>
                <a:latin typeface="Georgia"/>
              </a:rPr>
              <a:t>An operating platform
for selling mobile homes,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0" i="1">
                <a:solidFill>
                  <a:srgbClr val="C9A047"/>
                </a:solidFill>
                <a:latin typeface="Georgia"/>
              </a:rPr>
              <a:t>end to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C7CDD8"/>
                </a:solidFill>
                <a:latin typeface="Georgia"/>
              </a:rPr>
              <a:t>How it's built, what it solves, and why its architecture supports
other physical assets that follow the same business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50">
                <a:solidFill>
                  <a:srgbClr val="5A6478"/>
                </a:solidFill>
                <a:latin typeface="Calibri"/>
              </a:rPr>
              <a:t>MANINOS HOMES LLC  ·  MANINOS CAPITAL LLC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5A6478"/>
                </a:solidFill>
                <a:latin typeface="Calibri"/>
              </a:rPr>
              <a:t>TEXAS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250">
                <a:solidFill>
                  <a:srgbClr val="C9A047"/>
                </a:solidFill>
                <a:latin typeface="Calibri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0" i="0">
                <a:solidFill>
                  <a:srgbClr val="EEF0F4"/>
                </a:solidFill>
                <a:latin typeface="Georgia"/>
              </a:rPr>
              <a:t>What Maninos OS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EEF0F4"/>
                </a:solidFill>
                <a:latin typeface="Georgia"/>
              </a:rPr>
              <a:t>It is the proprietary software platform operated by Maninos Homes LLC and Maninos Capital LLC. It covers the full lifecycle of an asset: market discovery, purchase, renovation, listing, sale, in-house financing (RTO or cash), recurring payment management, title transfer, and investor reporting.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749039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402336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WHAT IT REPLACES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4340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—  Spreadsheets and WhatsApp threads for inventory and renovation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—  A generic CRM for clients and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56048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—  An external accounting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48656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—  A manual state title transfer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41264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—  A side spreadsheet for investor and delinquency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402336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WHAT IT ADDS THAT DOESN'T EXIST ELSEWHERE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434340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—  Six specialized AI agents embedded in the daily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470916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—  An in-house financing module (RTO) with its own accounting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507492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—  A public customer portal with simulator, KYC, e-signature, and self-service payment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544068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—  A separate module for managing private investor capital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01  ·  DEFINITION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MANINOS 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0" i="0">
                <a:solidFill>
                  <a:srgbClr val="EEF0F4"/>
                </a:solidFill>
                <a:latin typeface="Georgia"/>
              </a:rPr>
              <a:t>The shape of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8C95A8"/>
                </a:solidFill>
                <a:latin typeface="Calibri"/>
              </a:rPr>
              <a:t>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258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EF0F4"/>
                </a:solidFill>
                <a:latin typeface="Georgia"/>
              </a:rPr>
              <a:t>Three portals sharing a single Postgres database. There is no sync layer or replication job between them: anything that happens in operations is immediately visible in finance and in the customer's account.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.0" y="2651760"/>
            <a:ext cx="3454298.333333333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788920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PORTAL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345429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EEF0F4"/>
                </a:solidFill>
                <a:latin typeface="Georgia"/>
              </a:rPr>
              <a:t>Homes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8C95A8"/>
                </a:solidFill>
                <a:latin typeface="Calibri"/>
              </a:rPr>
              <a:t>INTERNAL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345429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C7CDD8"/>
                </a:solidFill>
                <a:latin typeface="Calibri"/>
              </a:rPr>
              <a:t>For the Maninos team. Inventory, renovation, photos, accounting, commissions, titles, dashboards. Role-based access: treasury, operations, yard_manager, admin, buyer, seller.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68698.333333334" y="2651760"/>
            <a:ext cx="3454298.333333334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68698" y="2788920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PORTAL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3108960"/>
            <a:ext cx="345429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EEF0F4"/>
                </a:solidFill>
                <a:latin typeface="Georgia"/>
              </a:rPr>
              <a:t>Capital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698" y="3611880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8C95A8"/>
                </a:solidFill>
                <a:latin typeface="Calibri"/>
              </a:rPr>
              <a:t>FINANCING AND INVESTORS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8698" y="3931920"/>
            <a:ext cx="345429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C7CDD8"/>
                </a:solidFill>
                <a:latin typeface="Calibri"/>
              </a:rPr>
              <a:t>For underwriters and finance partners. RTO applications, lease-with-purchase-option contracts, monthly payments, delinquency, KYC, investor capital, promissory notes, monthly reports.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88756.666666667" y="2651760"/>
            <a:ext cx="3454298.333333333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88756" y="2788920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PORTAL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8756" y="3108960"/>
            <a:ext cx="345429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EEF0F4"/>
                </a:solidFill>
                <a:latin typeface="Georgia"/>
              </a:rPr>
              <a:t>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8756" y="3611880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8C95A8"/>
                </a:solidFill>
                <a:latin typeface="Calibri"/>
              </a:rPr>
              <a:t>PUBLIC-FACING AND SELF-SERVICE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8756" y="3931920"/>
            <a:ext cx="345429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C7CDD8"/>
                </a:solidFill>
                <a:latin typeface="Calibri"/>
              </a:rPr>
              <a:t>For the buyer. Public catalog, RTO simulator, credit application, KYC with document upload, e-signature of the contract, account statement and payment reporting.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48640" y="60807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5532120"/>
            <a:ext cx="22188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EEF0F4"/>
                </a:solidFill>
                <a:latin typeface="Georgia"/>
              </a:rPr>
              <a:t>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897880"/>
            <a:ext cx="22188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50">
                <a:solidFill>
                  <a:srgbClr val="8C95A8"/>
                </a:solidFill>
                <a:latin typeface="Calibri"/>
              </a:rPr>
              <a:t>PAGES IN HOMES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67523.0" y="5486400"/>
            <a:ext cx="0.0" cy="594360"/>
          </a:xfrm>
          <a:prstGeom prst="line">
            <a:avLst/>
          </a:prstGeom>
          <a:ln w="9525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813243" y="5532120"/>
            <a:ext cx="22188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EEF0F4"/>
                </a:solidFill>
                <a:latin typeface="Georgia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3243" y="5897880"/>
            <a:ext cx="22188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50">
                <a:solidFill>
                  <a:srgbClr val="8C95A8"/>
                </a:solidFill>
                <a:latin typeface="Calibri"/>
              </a:rPr>
              <a:t>PAGES IN CAPITAL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86406.0" y="5486400"/>
            <a:ext cx="0.0" cy="594360"/>
          </a:xfrm>
          <a:prstGeom prst="line">
            <a:avLst/>
          </a:prstGeom>
          <a:ln w="9525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32126" y="5532120"/>
            <a:ext cx="22188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EEF0F4"/>
                </a:solidFill>
                <a:latin typeface="Georgia"/>
              </a:rPr>
              <a:t>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2126" y="5897880"/>
            <a:ext cx="22188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50">
                <a:solidFill>
                  <a:srgbClr val="8C95A8"/>
                </a:solidFill>
                <a:latin typeface="Calibri"/>
              </a:rPr>
              <a:t>PAGES IN CUSTOMERS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05289.0" y="5486400"/>
            <a:ext cx="0.0" cy="594360"/>
          </a:xfrm>
          <a:prstGeom prst="line">
            <a:avLst/>
          </a:prstGeom>
          <a:ln w="9525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251009" y="5532120"/>
            <a:ext cx="22188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EEF0F4"/>
                </a:solidFill>
                <a:latin typeface="Georgia"/>
              </a:rPr>
              <a:t>58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1009" y="5897880"/>
            <a:ext cx="22188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50">
                <a:solidFill>
                  <a:srgbClr val="8C95A8"/>
                </a:solidFill>
                <a:latin typeface="Calibri"/>
              </a:rPr>
              <a:t>TABLES IN POSTGRES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424172.0" y="5486400"/>
            <a:ext cx="0.0" cy="594360"/>
          </a:xfrm>
          <a:prstGeom prst="line">
            <a:avLst/>
          </a:prstGeom>
          <a:ln w="9525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469892" y="5532120"/>
            <a:ext cx="22188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EEF0F4"/>
                </a:solidFill>
                <a:latin typeface="Georgia"/>
              </a:rPr>
              <a:t>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9892" y="5897880"/>
            <a:ext cx="22188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50">
                <a:solidFill>
                  <a:srgbClr val="8C95A8"/>
                </a:solidFill>
                <a:latin typeface="Calibri"/>
              </a:rPr>
              <a:t>SQL MIGRATIONS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8C95A8"/>
                </a:solidFill>
                <a:latin typeface="Calibri"/>
              </a:rPr>
              <a:t>Numbers taken directly from the Maninos repository, as of today.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02  ·  ARCHITECTURE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THREE PORTALS  ·  ONE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 spc="200">
                <a:solidFill>
                  <a:srgbClr val="C9A047"/>
                </a:solidFill>
                <a:latin typeface="Georgia"/>
              </a:rPr>
              <a:t>— PART I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9144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0" i="0">
                <a:solidFill>
                  <a:srgbClr val="EEF0F4"/>
                </a:solidFill>
                <a:latin typeface="Georgia"/>
              </a:rPr>
              <a:t>The system, module by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8C95A8"/>
                </a:solidFill>
                <a:latin typeface="Georgia"/>
              </a:rPr>
              <a:t>A descriptive walkthrough of each portal: what it includes, how each user works with it, what data it stores, and how it connects to the rest.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0" i="0">
                <a:solidFill>
                  <a:srgbClr val="EEF0F4"/>
                </a:solidFill>
                <a:latin typeface="Georgia"/>
              </a:rPr>
              <a:t>Homes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8C95A8"/>
                </a:solidFill>
                <a:latin typeface="Calibri"/>
              </a:rPr>
              <a:t>INTERNAL OPERATIONS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63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50">
                <a:solidFill>
                  <a:srgbClr val="5A6478"/>
                </a:solidFill>
                <a:latin typeface="Consolas"/>
              </a:rPr>
              <a:t>/HOMES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9A047"/>
                </a:solidFill>
                <a:latin typeface="Georgia"/>
              </a:rPr>
              <a:t>The staff's daily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63040"/>
            <a:ext cx="8442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The Maninos staff spends the workday in this portal. Access is at /homes/* after authenticating in Supabase with their assigned role. The sidebar only shows the sections they have access to, with a badge for pending items (title transfers, payment orders, renovation approvals).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231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423160"/>
            <a:ext cx="66138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FUNCTION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2679192"/>
            <a:ext cx="844265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00400" y="2788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78892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KPIs, Texas map, six-month activity chart, pipeline by property status.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3154680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0040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Properties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20040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Listing with status filters (purchased, published, reserved, renovating, sold), search by address/code. Subroutes for editing, photos, the “Revisar Casa” checklist, and the renovation wizard.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00400" y="3566160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00400" y="3611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Transfers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61188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Titles in flight. Daily TDHCA scheduler widget plus a modal for manual upload of legacy titles. Each serial is a direct link to the TDHCA database.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00400" y="3977640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00400" y="4023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02336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Active sales, partial payments, commissions (finder + closer), Bill of Sale PDF generation, redirect to Capital when the sale is RTO.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0" y="4389120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00400" y="44348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Clients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43484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Internal CRM, cash buyers only.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00400" y="4800600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00400" y="4846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Accounting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84632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11 tabs: overview, transactions, invoices, statements, chart of accounts, properties, banks, budget, recurring, audit, account statement.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00400" y="5212080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200400" y="5257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Commissions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25780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Per-employee commissions. Treasury and Admin see all; other roles see only their own.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00400" y="5623560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00400" y="5669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Market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566928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External listings scraped from public sources.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200400" y="6035040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03  ·  HOMES PORTAL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18 PAGES  ·  ROLE-BASED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0" i="0">
                <a:solidFill>
                  <a:srgbClr val="EEF0F4"/>
                </a:solidFill>
                <a:latin typeface="Georgia"/>
              </a:rPr>
              <a:t>Capital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8C95A8"/>
                </a:solidFill>
                <a:latin typeface="Calibri"/>
              </a:rPr>
              <a:t>IN-HOUSE FINANCING + INVESTORS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63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50">
                <a:solidFill>
                  <a:srgbClr val="5A6478"/>
                </a:solidFill>
                <a:latin typeface="Consolas"/>
              </a:rPr>
              <a:t>/CAPITAL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9A047"/>
                </a:solidFill>
                <a:latin typeface="Georgia"/>
              </a:rPr>
              <a:t>The dealer as a 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63040"/>
            <a:ext cx="8442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When banks won't finance — and for pre-owned mobile homes they almost never do — the dealer becomes the lender. Capital is the portal where that role is administered. Access is restricted to a small group of authorized people.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231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423160"/>
            <a:ext cx="66138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FUNCTION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2679192"/>
            <a:ext cx="844265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00400" y="2788920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EEF0F4"/>
                </a:solidFill>
                <a:latin typeface="Calibri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78892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Portfolio summary, financial health, recent activity, KPIs.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3081528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00400" y="3118104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EEF0F4"/>
                </a:solidFill>
                <a:latin typeface="Calibri"/>
              </a:rP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18104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RTO applications in each state: pending, under review, approved, rejected, needs_info. Underwriting + scoring.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00400" y="3410712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00400" y="3447288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EEF0F4"/>
                </a:solidFill>
                <a:latin typeface="Calibri"/>
              </a:rPr>
              <a:t>KYC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447288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Manual customer identity verification. Documents uploaded by the client to the Supabase bucket and reviewed here. No external service.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00400" y="3739896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00400" y="3776472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EEF0F4"/>
                </a:solidFill>
                <a:latin typeface="Calibri"/>
              </a:rPr>
              <a:t>Contracts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776472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RTO contracts with their 33 clauses, amortization table, down-payment installment tracking, PDF generation.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0" y="4069080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00400" y="4105656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EEF0F4"/>
                </a:solidFill>
                <a:latin typeface="Calibri"/>
              </a:rPr>
              <a:t>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105656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Monthly payments, confirmation of client-reported transfers, delinquency summary, commissions, insurance expiration alerts.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00400" y="4398264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00400" y="4434840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EEF0F4"/>
                </a:solidFill>
                <a:latin typeface="Calibri"/>
              </a:rPr>
              <a:t>Investors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43484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Active investors, committed capital, deployed capital, returns.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00400" y="4727448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200400" y="4764024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EEF0F4"/>
                </a:solidFill>
                <a:latin typeface="Calibri"/>
              </a:rPr>
              <a:t>Promissory notes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764024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Investor notes with maturity alerts at 90, 60, and 30 days.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00400" y="5056632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00400" y="5093208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EEF0F4"/>
                </a:solidFill>
                <a:latin typeface="Calibri"/>
              </a:rPr>
              <a:t>Accounting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5093208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Capital's own accounting: chart of accounts, journal entries, bank statements with reconciliation, reports (P&amp;L, balance sheet, cash flow).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200400" y="5385816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200400" y="5422392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EEF0F4"/>
                </a:solidFill>
                <a:latin typeface="Calibri"/>
              </a:rPr>
              <a:t>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5422392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Monthly PDF statements for each investor plus unified portfolio summaries.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200400" y="5715000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200400" y="5751576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EEF0F4"/>
                </a:solidFill>
                <a:latin typeface="Calibri"/>
              </a:rPr>
              <a:t>Delinquency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5751576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Past-due portfolio by aging bucket (0–30, 31–60, 61–90, 90+).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00400" y="6044184"/>
            <a:ext cx="844265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04  ·  CAPITAL PORTAL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19 PAGES  ·  13 BACKEND ROUTE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0" i="0">
                <a:solidFill>
                  <a:srgbClr val="EEF0F4"/>
                </a:solidFill>
                <a:latin typeface="Georgia"/>
              </a:rPr>
              <a:t>Customers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8C95A8"/>
                </a:solidFill>
                <a:latin typeface="Calibri"/>
              </a:rPr>
              <a:t>PUBLIC-FACING AND SELF-SERVICE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63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50">
                <a:solidFill>
                  <a:srgbClr val="5A6478"/>
                </a:solidFill>
                <a:latin typeface="Consolas"/>
              </a:rPr>
              <a:t>/CLIENTES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9A047"/>
                </a:solidFill>
                <a:latin typeface="Georgia"/>
              </a:rPr>
              <a:t>From first click to payment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63040"/>
            <a:ext cx="8442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This is the only portal accessible without a session. A visitor can land on the catalog from Facebook or from a direct link. Authentication only appears as the buyer advances through the funnel.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68880"/>
            <a:ext cx="8442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VISITOR'S PATH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788920"/>
            <a:ext cx="844265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0" y="4069080"/>
            <a:ext cx="844265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46120" y="2926080"/>
            <a:ext cx="19277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 spc="150">
                <a:solidFill>
                  <a:srgbClr val="5A6478"/>
                </a:solidFill>
                <a:latin typeface="Consolas"/>
              </a:rPr>
              <a:t>— 01 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154680"/>
            <a:ext cx="19277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0F4"/>
                </a:solidFill>
                <a:latin typeface="Georgia"/>
              </a:rPr>
              <a:t>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502152"/>
            <a:ext cx="192778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8C95A8"/>
                </a:solidFill>
                <a:latin typeface="Calibri"/>
              </a:rPr>
              <a:t>Public listing with city and price filters. Auto-refreshes every 2 min to surface new inventory.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11063.75" y="2788920"/>
            <a:ext cx="0.0" cy="1280160"/>
          </a:xfrm>
          <a:prstGeom prst="line">
            <a:avLst/>
          </a:prstGeom>
          <a:ln w="9525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56783" y="2926080"/>
            <a:ext cx="19277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 spc="150">
                <a:solidFill>
                  <a:srgbClr val="5A6478"/>
                </a:solidFill>
                <a:latin typeface="Consolas"/>
              </a:rPr>
              <a:t>— 02 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6783" y="3154680"/>
            <a:ext cx="19277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0F4"/>
                </a:solidFill>
                <a:latin typeface="Georgia"/>
              </a:rPr>
              <a:t>Property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6783" y="3502152"/>
            <a:ext cx="192778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8C95A8"/>
                </a:solidFill>
                <a:latin typeface="Calibri"/>
              </a:rPr>
              <a:t>Detail page with gallery, specs, and an interactive RTO simulator (down 30–100%, term 12–60 months).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21727.5" y="2788920"/>
            <a:ext cx="0.0" cy="1280160"/>
          </a:xfrm>
          <a:prstGeom prst="line">
            <a:avLst/>
          </a:prstGeom>
          <a:ln w="9525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67447" y="2926080"/>
            <a:ext cx="19277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 spc="150">
                <a:solidFill>
                  <a:srgbClr val="5A6478"/>
                </a:solidFill>
                <a:latin typeface="Consolas"/>
              </a:rPr>
              <a:t>— 03 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7447" y="3154680"/>
            <a:ext cx="19277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0F4"/>
                </a:solidFill>
                <a:latin typeface="Georgia"/>
              </a:rPr>
              <a:t>Purchase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7447" y="3502152"/>
            <a:ext cx="192778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8C95A8"/>
                </a:solidFill>
                <a:latin typeface="Calibri"/>
              </a:rPr>
              <a:t>Captures contact, creates client or reuses existing one, picks method: cash or RTO.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32391.25" y="2788920"/>
            <a:ext cx="0.0" cy="1280160"/>
          </a:xfrm>
          <a:prstGeom prst="line">
            <a:avLst/>
          </a:prstGeom>
          <a:ln w="9525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578111" y="2926080"/>
            <a:ext cx="19277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 spc="150">
                <a:solidFill>
                  <a:srgbClr val="5A6478"/>
                </a:solidFill>
                <a:latin typeface="Consolas"/>
              </a:rPr>
              <a:t>— 04 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8111" y="3154680"/>
            <a:ext cx="19277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0F4"/>
                </a:solidFill>
                <a:latin typeface="Georgia"/>
              </a:rPr>
              <a:t>Account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8111" y="3502152"/>
            <a:ext cx="192778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8C95A8"/>
                </a:solidFill>
                <a:latin typeface="Calibri"/>
              </a:rPr>
              <a:t>Account statement, KYC, contract signing, documents, monthly payment reporting.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297680"/>
            <a:ext cx="8442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WHAT THE CUSTOMER CAN DO IN THEIR ACCOUNT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663440"/>
            <a:ext cx="8442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Upload their driver's license, passport, or state ID for KYC (JPG/PNG/WebP/HEIC, up to 10 MB)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56048"/>
            <a:ext cx="8442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Electronically sign their RTO contract with timestamp, IP, and user-agent recorded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248656"/>
            <a:ext cx="8442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Complete the credit application in sections (employment, housing, assets, debts, references)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541264"/>
            <a:ext cx="8442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Report the current month's payment and review the full payment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833872"/>
            <a:ext cx="8442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Download signed contracts and title transfer documents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05  ·  CUSTOMERS PORTAL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16 PAGES  ·  PUBLIC + AUTHENTICATED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 spc="200">
                <a:solidFill>
                  <a:srgbClr val="C9A047"/>
                </a:solidFill>
                <a:latin typeface="Georgia"/>
              </a:rPr>
              <a:t>— PART II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9144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0" i="0">
                <a:solidFill>
                  <a:srgbClr val="EEF0F4"/>
                </a:solidFill>
                <a:latin typeface="Georgia"/>
              </a:rPr>
              <a:t>The business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8C95A8"/>
                </a:solidFill>
                <a:latin typeface="Georgia"/>
              </a:rPr>
              <a:t>How an asset moves from the moment it surfaces in an external source until its 36-month RTO contract closes 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EEF0F4"/>
                </a:solidFill>
                <a:latin typeface="Georgia"/>
              </a:rPr>
              <a:t>Buy · Renovate · Sell · Collect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8C95A8"/>
                </a:solidFill>
                <a:latin typeface="Calibri"/>
              </a:rPr>
              <a:t>THE FULL LOOP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Each stage has its tables, its AI agent(s), and its UI surface. The same record advances through five stages without leaving the system and without anyone retyping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9456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WHAT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1945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AGENTS /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9456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DATA PRODUCED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46888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560320"/>
            <a:ext cx="1325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1. 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560320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BuscadorAgent crawls external sources, applies Maninos's rules, proposes candidates.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56032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BuscadorAgent (Playwright + scrapers for MHVillage, MobileHome.net, Zillow, FB Marketplace).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6032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onsolas"/>
              </a:rPr>
              <a:t>market_listings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154680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3200400"/>
            <a:ext cx="1325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2. Buy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200400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“Revisar Casa” wizard: photos, checklist, seller details, offer.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20040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FotosAgent (image classification), VozAgent (notes dictated on the yard).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004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onsolas"/>
              </a:rPr>
              <a:t>properties, title_transfers (purchase)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794760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3840480"/>
            <a:ext cx="1325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3. Renovate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840480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Renovation plan: materials, labor, contingency.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84048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RenovacionAgent (orchestrator), CostosAgent (prices read from DB).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84048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onsolas"/>
              </a:rPr>
              <a:t>renovations · accounting_transactions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4434840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4480560"/>
            <a:ext cx="1325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4. List and sell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480560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Suggested price. Publishing. Customer buys cash or applies for RTO.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48056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PrecioAgent (80% market-value ceiling).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48056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onsolas"/>
              </a:rPr>
              <a:t>sales, sale_payments, rto_applications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5074920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5120640"/>
            <a:ext cx="1325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5. Collect and close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120640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Monthly payments, late fees, delinquency, final title transfer.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512064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Daily title_monitor scheduler against TDHCA. Email service for reminders.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12064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onsolas"/>
              </a:rPr>
              <a:t>rto_payments, title_transfers (sale), commission_payments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5715000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06  ·  THE LOOP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5 STAGES  ·  6 AGENTS  ·  ONE SOURCE OF TRUTH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EEF0F4"/>
                </a:solidFill>
                <a:latin typeface="Georgia"/>
              </a:rPr>
              <a:t>The six specialized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8C95A8"/>
                </a:solidFill>
                <a:latin typeface="Calibri"/>
              </a:rPr>
              <a:t>AI LAYER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258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Each agent lives under api/agents/, inherits from BaseAgent, runs asynchronously, and returns structured JSON validated by Pydantic. They have no memory between calls: the context required is passed explicitly with every request.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4028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24028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IMPLEMENTATION NOTE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51460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606040"/>
            <a:ext cx="1143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Buscador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0604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Finds mobile homes on the market that satisfy Maninos's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06040"/>
            <a:ext cx="6446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Scrapes MHVillage, MobileHome.net, MHBay, Zillow, Facebook Marketplace. Filters using the Feb 2026 rules: 60% of market value, $5K–$80K, 200mi from Houston or Dallas, no year filter.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07238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108960"/>
            <a:ext cx="1143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Costos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10896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Estimates the renovation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108960"/>
            <a:ext cx="6446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Reads the materials catalog from the database. Returns materials + labor (30–50% of materials) + contingency (5–15%) + cost per sqft + risk factors.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57530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3611880"/>
            <a:ext cx="1143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Precio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6118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Proposes a sale price.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611880"/>
            <a:ext cx="6446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Returns four strategies: minimum, target, market, aggressive. Applies an automatic ceiling of 80% of blended market value.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407822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4114800"/>
            <a:ext cx="1143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Fotos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11480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Classifies photos by renovation state.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114800"/>
            <a:ext cx="6446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True vision (no keyword tricks). Distinguishes before / after / exterior / interior. Sorts the public gallery: after first, then exterior, interior, before.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458114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4617720"/>
            <a:ext cx="1143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Voz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61772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Transcribes audio dictated by staff and extracts intent.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617720"/>
            <a:ext cx="6446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Whisper in Spanish. Detects whether it's an inspection note, a materials list, or a general observation. Works with Spanglish.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508406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5120640"/>
            <a:ext cx="1143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EEF0F4"/>
                </a:solidFill>
                <a:latin typeface="Calibri"/>
              </a:rPr>
              <a:t>Renovación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12064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Guided conversation to plan the renovation.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120640"/>
            <a:ext cx="6446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7CDD8"/>
                </a:solidFill>
                <a:latin typeface="Calibri"/>
              </a:rPr>
              <a:t>Material prices are embedded in the prompt itself (a latency choice). If the property has no sqft, it refuses to estimate — fails loud.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558698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48640" y="58521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5989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1">
                <a:solidFill>
                  <a:srgbClr val="C7CDD8"/>
                </a:solidFill>
                <a:latin typeface="Calibri"/>
              </a:rPr>
              <a:t>Aside: the floating AIChatWidget chat in the Homes portal does not use these agents. It calls /api/ai/chat (gpt-5-mini) with a tool-calling pattern over 19 database query tools.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07  ·  AGENTS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6 SPECIALIZED  +  1 CONVERSATIONAL ASSISTANT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0" i="0">
                <a:solidFill>
                  <a:srgbClr val="EEF0F4"/>
                </a:solidFill>
                <a:latin typeface="Georgia"/>
              </a:rPr>
              <a:t>The scheduler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8C95A8"/>
                </a:solidFill>
                <a:latin typeface="Calibri"/>
              </a:rPr>
              <a:t>BACKGROUND AUTOMATION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APScheduler runs on the US Central timezone. Ten jobs in production. Every run, successful or failed, leaves a record in the scheduler_runs table — the widget at /homes/transfers reads from that table, not from the scheduler's in-memory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2402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CADENCE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240280"/>
            <a:ext cx="5577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FUNCTION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51460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5877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6CF95"/>
                </a:solidFill>
                <a:latin typeface="Consolas"/>
              </a:rPr>
              <a:t>process_scheduled_emails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58775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Every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587752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Sends pending scheduled emails.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288950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291693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6CF95"/>
                </a:solidFill>
                <a:latin typeface="Consolas"/>
              </a:rPr>
              <a:t>rto_reminders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916936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Daily · 8:00 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916936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RTO payment reminders to the customer (3d before, day-of, 1d after).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218688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32461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6CF95"/>
                </a:solidFill>
                <a:latin typeface="Consolas"/>
              </a:rPr>
              <a:t>rto_overdue_alerts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24612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Daily · 9:00 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24612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Internal alerts for overdue RTO payments.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547872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357530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6CF95"/>
                </a:solidFill>
                <a:latin typeface="Consolas"/>
              </a:rPr>
              <a:t>promissory_maturity_alerts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575304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Daily · 9:30 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575304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Notifies the team of upcoming note maturities (90 / 60 / 30 days).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877056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390448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6CF95"/>
                </a:solidFill>
                <a:latin typeface="Consolas"/>
              </a:rPr>
              <a:t>title_monitor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904488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Daily · 10:00 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904488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Queries TDHCA for each pending serial, fuzzy-matches the owner name.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4206240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42336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6CF95"/>
                </a:solidFill>
                <a:latin typeface="Consolas"/>
              </a:rPr>
              <a:t>investor_followup_emails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23367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1st of month · 10:30 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233672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Monthly statement to each investor with attached PDF.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53542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456285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6CF95"/>
                </a:solidFill>
                <a:latin typeface="Consolas"/>
              </a:rPr>
              <a:t>portal_sync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562856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Every 2 hours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562856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Cross-consistency between Homes ↔ Capital.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4864608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8640" y="48920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6CF95"/>
                </a:solidFill>
                <a:latin typeface="Consolas"/>
              </a:rPr>
              <a:t>refresh_partner_listings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48920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Every 6 hours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489204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Refreshes VMF Homes and 21st Mortgage listings.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" y="5193792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8640" y="522122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6CF95"/>
                </a:solidFill>
                <a:latin typeface="Consolas"/>
              </a:rPr>
              <a:t>facebook_auto_scrape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5221224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Mon and Thu · 7:00 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5221224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Facebook Marketplace scraping via Apify.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8640" y="5522976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8640" y="555040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6CF95"/>
                </a:solidFill>
                <a:latin typeface="Consolas"/>
              </a:rPr>
              <a:t>expire_old_listings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5550408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Daily · 6:00 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550408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Marks listings older than 14 days as expired.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48640" y="5852160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08  ·  SCHEDULER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10 JOBS  ·  US CENTRAL  ·  AUDIT IN scheduler_runs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EEF0F4"/>
                </a:solidFill>
                <a:latin typeface="Georgia"/>
              </a:rPr>
              <a:t>The state title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8C95A8"/>
                </a:solidFill>
                <a:latin typeface="Calibri"/>
              </a:rPr>
              <a:t>TDHCA AND LEGACY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In Texas, transfer of ownership for a mobile home is recorded with TDHCA via the Statement of Ownership. Maninos OS automates the follow-up.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AUTOMATIC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52728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1.  When the title application document is uploaded, the agent extracts the HUD label / serial.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52728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2.  If the title application doesn't carry the value, falls back to the Bill of Sale (bos_purchase.hud_label_number).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52728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3.  The 10:00 CT daily job queries the TDHCA portal for each pending serial.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52728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4.  Fuzzy-matches the name TDHCA returns against to_name.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17720"/>
            <a:ext cx="52728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5.  If they match, sets title_name_updated = TRUE, records the name in tdhca_owner_name, moves the transfer to completed.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28600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LEGACY HOUSES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606040"/>
            <a:ext cx="52728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Houses sold before the platform existed are not in the system, and their transfer was already done outside it. To bring them in, the Homes portal exposes a manual upload flow: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352044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Lets you create the property and the transfer from scratch, or against an existing property.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393192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If the house is already sold, asks for the buyer and creates the matching sale transfer.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434340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Sets is_manual_upload = TRUE and title_name_updated = TRUE so the daily job ignores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475488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The serial shown in the listing is a direct link to the public TDHCA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09  ·  TITLES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TDHCA + MANUAL  ·  AUDIT EACH NIGHT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EEF0F4"/>
                </a:solidFill>
                <a:latin typeface="Georgia"/>
              </a:rPr>
              <a:t>The in-house financing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8C95A8"/>
                </a:solidFill>
                <a:latin typeface="Calibri"/>
              </a:rPr>
              <a:t>RTO IN DETAIL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The base contract is the Texas Residential Lease With Purchase Option (33 clauses). The numeric defaults live in code and are configurable per contract.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28600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31089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423160"/>
            <a:ext cx="22188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EEF0F4"/>
                </a:solidFill>
                <a:latin typeface="Georgia"/>
              </a:rPr>
              <a:t>$15</a:t>
            </a:r>
            <a:r>
              <a:rPr sz="1100" b="0" i="0">
                <a:solidFill>
                  <a:srgbClr val="8C95A8"/>
                </a:solidFill>
                <a:latin typeface="Calibri"/>
              </a:rPr>
              <a:t>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22188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LATE FEE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67523.0" y="2331720"/>
            <a:ext cx="0.0" cy="777240"/>
          </a:xfrm>
          <a:prstGeom prst="line">
            <a:avLst/>
          </a:prstGeom>
          <a:ln w="9525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13243" y="2423160"/>
            <a:ext cx="22188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EEF0F4"/>
                </a:solidFill>
                <a:latin typeface="Georgia"/>
              </a:rPr>
              <a:t>5</a:t>
            </a:r>
            <a:r>
              <a:rPr sz="1100" b="0" i="0">
                <a:solidFill>
                  <a:srgbClr val="8C95A8"/>
                </a:solidFill>
                <a:latin typeface="Calibri"/>
              </a:rPr>
              <a:t>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3243" y="2926080"/>
            <a:ext cx="22188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GRACE PERIOD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86406.0" y="2331720"/>
            <a:ext cx="0.0" cy="777240"/>
          </a:xfrm>
          <a:prstGeom prst="line">
            <a:avLst/>
          </a:prstGeom>
          <a:ln w="9525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32126" y="2423160"/>
            <a:ext cx="22188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EEF0F4"/>
                </a:solidFill>
                <a:latin typeface="Georgia"/>
              </a:rPr>
              <a:t>15</a:t>
            </a:r>
            <a:r>
              <a:rPr sz="1100" b="0" i="0">
                <a:solidFill>
                  <a:srgbClr val="8C95A8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2126" y="2926080"/>
            <a:ext cx="22188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DUE DAY OF MONTH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05289.0" y="2331720"/>
            <a:ext cx="0.0" cy="777240"/>
          </a:xfrm>
          <a:prstGeom prst="line">
            <a:avLst/>
          </a:prstGeom>
          <a:ln w="9525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51009" y="2423160"/>
            <a:ext cx="22188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EEF0F4"/>
                </a:solidFill>
                <a:latin typeface="Georgia"/>
              </a:rPr>
              <a:t>$250</a:t>
            </a:r>
            <a:r>
              <a:rPr sz="1100" b="0" i="0">
                <a:solidFill>
                  <a:srgbClr val="8C95A8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009" y="2926080"/>
            <a:ext cx="22188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NSF FEE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24172.0" y="2331720"/>
            <a:ext cx="0.0" cy="777240"/>
          </a:xfrm>
          <a:prstGeom prst="line">
            <a:avLst/>
          </a:prstGeom>
          <a:ln w="9525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469892" y="2423160"/>
            <a:ext cx="22188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EEF0F4"/>
                </a:solidFill>
                <a:latin typeface="Georgia"/>
              </a:rPr>
              <a:t>$695</a:t>
            </a:r>
            <a:r>
              <a:rPr sz="1100" b="0" i="0">
                <a:solidFill>
                  <a:srgbClr val="8C95A8"/>
                </a:solidFill>
                <a:latin typeface="Calibri"/>
              </a:rPr>
              <a:t>/month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9892" y="2926080"/>
            <a:ext cx="22188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HOLDOVER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2461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8C95A8"/>
                </a:solidFill>
                <a:latin typeface="Calibri"/>
              </a:rPr>
              <a:t>Defaults applied by migration 012_maninos_capital.sql. Each contract can override them.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70332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388620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WHAT THE DEALER SEES EVERY 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0624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Incoming RTO applications with their underwriting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2628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The month's payments with confirmation pending or applied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4632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Past-due portfolio segmented by aging (0–30, 31–60, 61–90, 90+)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6636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Per-sale commissions split into finder vs closer, pending vs paid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48640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Alerts for customer insurance about to lapse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0167" y="388620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WHAT THE CUSTOMER SEES IN THEIR ACCOUNT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167" y="420624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Their amortization table with past, current, and future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167" y="452628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Total paid and remaining balance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0167" y="484632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A button to report this month's payment with method and reference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0167" y="516636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The status of their KYC and contract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48640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Notifications for upcoming and overdue payments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10  ·  RTO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33 CLAUSES  ·  DUAL VIEW (OPERATOR + CUSTOMER)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0" i="0">
                <a:solidFill>
                  <a:srgbClr val="EEF0F4"/>
                </a:solidFill>
                <a:latin typeface="Georgia"/>
              </a:rPr>
              <a:t>The accounting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8C95A8"/>
                </a:solidFill>
                <a:latin typeface="Calibri"/>
              </a:rPr>
              <a:t>FULL GL, TWO ENTITIES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Maninos OS doesn't lean on an external QuickBooks: it implements its own General Ledger with a structure inspired by QuickBooks' chart of accounts. There are two separate sets of books — one for Homes, one for Capital — because they are two distinct LLCs with independent reporting.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TABLES INVOLVED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88920"/>
            <a:ext cx="5272887" cy="3200400"/>
          </a:xfrm>
          <a:prstGeom prst="rect">
            <a:avLst/>
          </a:prstGeom>
          <a:solidFill>
            <a:srgbClr val="1A2638"/>
          </a:solidFill>
          <a:ln w="635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6CF95"/>
                </a:solidFill>
                <a:latin typeface="Consolas"/>
              </a:rPr>
              <a:t>accounting_accounts           </a:t>
            </a:r>
            <a:r>
              <a:rPr sz="900" b="0" i="0">
                <a:solidFill>
                  <a:srgbClr val="5A6478"/>
                </a:solidFill>
                <a:latin typeface="Consolas"/>
              </a:rPr>
              <a:t>// chart of accounts (Homes)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6CF95"/>
                </a:solidFill>
                <a:latin typeface="Consolas"/>
              </a:rPr>
              <a:t>accounting_transactions       </a:t>
            </a:r>
            <a:r>
              <a:rPr sz="900" b="0" i="0">
                <a:solidFill>
                  <a:srgbClr val="5A6478"/>
                </a:solidFill>
                <a:latin typeface="Consolas"/>
              </a:rPr>
              <a:t>// journal entries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6CF95"/>
                </a:solidFill>
                <a:latin typeface="Consolas"/>
              </a:rPr>
              <a:t>bank_accounts                 </a:t>
            </a:r>
            <a:r>
              <a:rPr sz="900" b="0" i="0">
                <a:solidFill>
                  <a:srgbClr val="5A6478"/>
                </a:solidFill>
                <a:latin typeface="Consolas"/>
              </a:rPr>
              <a:t>// bank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6CF95"/>
                </a:solidFill>
                <a:latin typeface="Consolas"/>
              </a:rPr>
              <a:t>recurring_expenses            </a:t>
            </a:r>
            <a:r>
              <a:rPr sz="900" b="0" i="0">
                <a:solidFill>
                  <a:srgbClr val="5A6478"/>
                </a:solidFill>
                <a:latin typeface="Consolas"/>
              </a:rPr>
              <a:t>// recurring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6CF95"/>
                </a:solidFill>
                <a:latin typeface="Consolas"/>
              </a:rPr>
              <a:t>accounting_budgets            </a:t>
            </a:r>
            <a:r>
              <a:rPr sz="900" b="0" i="0">
                <a:solidFill>
                  <a:srgbClr val="5A6478"/>
                </a:solidFill>
                <a:latin typeface="Consolas"/>
              </a:rPr>
              <a:t>// budgets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6CF95"/>
                </a:solidFill>
                <a:latin typeface="Consolas"/>
              </a:rPr>
              <a:t>accounting_audit_log          </a:t>
            </a:r>
            <a:r>
              <a:rPr sz="900" b="0" i="0">
                <a:solidFill>
                  <a:srgbClr val="5A6478"/>
                </a:solidFill>
                <a:latin typeface="Consolas"/>
              </a:rPr>
              <a:t>//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6CF95"/>
                </a:solidFill>
                <a:latin typeface="Consolas"/>
              </a:rPr>
              <a:t>capital_accounts              </a:t>
            </a:r>
            <a:r>
              <a:rPr sz="900" b="0" i="0">
                <a:solidFill>
                  <a:srgbClr val="5A6478"/>
                </a:solidFill>
                <a:latin typeface="Consolas"/>
              </a:rPr>
              <a:t>// chart of accounts (Capital)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6CF95"/>
                </a:solidFill>
                <a:latin typeface="Consolas"/>
              </a:rPr>
              <a:t>capital_transactions          </a:t>
            </a:r>
            <a:r>
              <a:rPr sz="900" b="0" i="0">
                <a:solidFill>
                  <a:srgbClr val="5A6478"/>
                </a:solidFill>
                <a:latin typeface="Consolas"/>
              </a:rPr>
              <a:t>// Capital journal entries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6CF95"/>
                </a:solidFill>
                <a:latin typeface="Consolas"/>
              </a:rPr>
              <a:t>capital_bank_statements       </a:t>
            </a:r>
            <a:r>
              <a:rPr sz="900" b="0" i="0">
                <a:solidFill>
                  <a:srgbClr val="5A6478"/>
                </a:solidFill>
                <a:latin typeface="Consolas"/>
              </a:rPr>
              <a:t>// bank statements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6CF95"/>
                </a:solidFill>
                <a:latin typeface="Consolas"/>
              </a:rPr>
              <a:t>capital_statement_movements   </a:t>
            </a:r>
            <a:r>
              <a:rPr sz="900" b="0" i="0">
                <a:solidFill>
                  <a:srgbClr val="5A6478"/>
                </a:solidFill>
                <a:latin typeface="Consolas"/>
              </a:rPr>
              <a:t>// statement 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6CF95"/>
                </a:solidFill>
                <a:latin typeface="Consolas"/>
              </a:rPr>
              <a:t>capital_budgets               </a:t>
            </a:r>
            <a:r>
              <a:rPr sz="900" b="0" i="0">
                <a:solidFill>
                  <a:srgbClr val="5A6478"/>
                </a:solidFill>
                <a:latin typeface="Consolas"/>
              </a:rPr>
              <a:t>// Capital budgets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4688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WHAT IT COVERS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278892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Revenue: cash sales, RTO sales, monthly RTO payments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315468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Expenses: house purchases, renovations, transport, commissions, operating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352044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Assets: per-house inventory (each property generates its own hierarchy)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388620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Reports: P&amp;L, balance sheet, cash flow, budget vs actual, P&amp;L per property and per yard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425196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Bank reconciliation with statement import and matching against entries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461772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Audit log for compliance and traceability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544068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1">
                <a:solidFill>
                  <a:srgbClr val="C7CDD8"/>
                </a:solidFill>
                <a:latin typeface="Calibri"/>
              </a:rPr>
              <a:t>RTO payments automatically trigger their matching journal entry (_accounting_hooks.py). The team doesn't double-key bookkeeping.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11  ·  ACCOUNTING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TWO LLCs  ·  OWN GL  ·  AUDIT LOG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0" i="0">
                <a:solidFill>
                  <a:srgbClr val="EEF0F4"/>
                </a:solidFill>
                <a:latin typeface="Georgia"/>
              </a:rPr>
              <a:t>The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8C95A8"/>
                </a:solidFill>
                <a:latin typeface="Calibri"/>
              </a:rPr>
              <a:t>NO SURPRISES, ALL STANDARD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63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COMPONENTS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7373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182880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EEF0F4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828800"/>
            <a:ext cx="9006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Python 3.12 with FastAPI. 22 route files for Homes, 13 for Capital, 5 public. 9 services (email, pdf, scheduler, scrapers, title monitor, notification, document, esign, property).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34086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3774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EEF0F4"/>
                </a:solidFill>
                <a:latin typeface="Calibri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377440"/>
            <a:ext cx="9006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Supabase: Postgres + Auth + Storage. 58 tables, 91 SQL migrations. Direct SDK access, no ORM. Service-role key on the backend, RLS on public buckets.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288950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292608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EEF0F4"/>
                </a:solidFill>
                <a:latin typeface="Calibri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926080"/>
            <a:ext cx="9006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Next.js 14 with the App Router. Tailwind on top of an in-house design system (navy / gold palette). Mobile-first responsive. No external state library: just React hooks.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43814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347472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EEF0F4"/>
                </a:solidFill>
                <a:latin typeface="Calibri"/>
              </a:rP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474720"/>
            <a:ext cx="9006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OpenAI: gpt-5 in agents, gpt-5-mini in chat with tool-calling, whisper-1 for transcription (locked to Spanish).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398678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402336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EEF0F4"/>
                </a:solidFill>
                <a:latin typeface="Calibri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023360"/>
            <a:ext cx="9006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Resend with custom templates and PDF attachments. The scheduled-email queue is processed every 30 min.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53542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457200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EEF0F4"/>
                </a:solidFill>
                <a:latin typeface="Calibri"/>
              </a:rPr>
              <a:t>Scraping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572000"/>
            <a:ext cx="9006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Playwright for browser automation. Apify for Facebook Marketplace.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08406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51206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EEF0F4"/>
                </a:solidFill>
                <a:latin typeface="Calibri"/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120640"/>
            <a:ext cx="9006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Backend on Railway (Docker). Frontend on Vercel. Auto-deploy on every push to main.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63270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566928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EEF0F4"/>
                </a:solidFill>
                <a:latin typeface="Calibri"/>
              </a:rPr>
              <a:t>Observability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5669280"/>
            <a:ext cx="9006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structlog for structured logging. Logfire optional for telemetry.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18134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12  ·  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FASTAPI + NEXT.JS + SUPABASE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0" i="0">
                <a:solidFill>
                  <a:srgbClr val="EEF0F4"/>
                </a:solidFill>
                <a:latin typeface="Georgia"/>
              </a:rPr>
              <a:t>The business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8C95A8"/>
                </a:solidFill>
                <a:latin typeface="Calibri"/>
              </a:rPr>
              <a:t>TEXAS, MANINOS,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The rules live in code and are applied automatically. They aren't agent suggestions: they are guardrails that the APIs and the agents respect.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9A047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0F4"/>
                </a:solidFill>
                <a:latin typeface="Calibri"/>
              </a:rPr>
              <a:t>Geography: </a:t>
            </a:r>
            <a:r>
              <a:rPr sz="1100" b="0" i="0">
                <a:solidFill>
                  <a:srgbClr val="C7CDD8"/>
                </a:solidFill>
                <a:latin typeface="Calibri"/>
              </a:rPr>
              <a:t>200-mile radius from Houston or Dallas, Texas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9A047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0F4"/>
                </a:solidFill>
                <a:latin typeface="Calibri"/>
              </a:rPr>
              <a:t>Purchase price: </a:t>
            </a:r>
            <a:r>
              <a:rPr sz="1100" b="0" i="0">
                <a:solidFill>
                  <a:srgbClr val="C7CDD8"/>
                </a:solidFill>
                <a:latin typeface="Calibri"/>
              </a:rPr>
              <a:t>up to 60% of market value (renovation excluded)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9A047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0F4"/>
                </a:solidFill>
                <a:latin typeface="Calibri"/>
              </a:rPr>
              <a:t>Accepted range: </a:t>
            </a:r>
            <a:r>
              <a:rPr sz="1100" b="0" i="0">
                <a:solidFill>
                  <a:srgbClr val="C7CDD8"/>
                </a:solidFill>
                <a:latin typeface="Calibri"/>
              </a:rPr>
              <a:t>$5,000 to $80,000 per property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9A047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0F4"/>
                </a:solidFill>
                <a:latin typeface="Calibri"/>
              </a:rPr>
              <a:t>Year: </a:t>
            </a:r>
            <a:r>
              <a:rPr sz="1100" b="0" i="0">
                <a:solidFill>
                  <a:srgbClr val="C7CDD8"/>
                </a:solidFill>
                <a:latin typeface="Calibri"/>
              </a:rPr>
              <a:t>no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9A047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0F4"/>
                </a:solidFill>
                <a:latin typeface="Calibri"/>
              </a:rPr>
              <a:t>Types: </a:t>
            </a:r>
            <a:r>
              <a:rPr sz="1100" b="0" i="0">
                <a:solidFill>
                  <a:srgbClr val="C7CDD8"/>
                </a:solidFill>
                <a:latin typeface="Calibri"/>
              </a:rPr>
              <a:t>single wide and double wide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RENOVATION AND SALE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78892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9A047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0F4"/>
                </a:solidFill>
                <a:latin typeface="Calibri"/>
              </a:rPr>
              <a:t>Renovation budget: </a:t>
            </a:r>
            <a:r>
              <a:rPr sz="1100" b="0" i="0">
                <a:solidFill>
                  <a:srgbClr val="C7CDD8"/>
                </a:solidFill>
                <a:latin typeface="Calibri"/>
              </a:rPr>
              <a:t>$5,000 to $15,000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320040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9A047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0F4"/>
                </a:solidFill>
                <a:latin typeface="Calibri"/>
              </a:rPr>
              <a:t>Sale price: </a:t>
            </a:r>
            <a:r>
              <a:rPr sz="1100" b="0" i="0">
                <a:solidFill>
                  <a:srgbClr val="C7CDD8"/>
                </a:solidFill>
                <a:latin typeface="Calibri"/>
              </a:rPr>
              <a:t>up to 80% of blended market value (ceiling enforced by PrecioAgent)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361188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9A047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0F4"/>
                </a:solidFill>
                <a:latin typeface="Calibri"/>
              </a:rPr>
              <a:t>Commissions: </a:t>
            </a:r>
            <a:r>
              <a:rPr sz="1100" b="0" i="0">
                <a:solidFill>
                  <a:srgbClr val="C7CDD8"/>
                </a:solidFill>
                <a:latin typeface="Calibri"/>
              </a:rPr>
              <a:t>$1,500 on cash sale · $1,000 on RTO sale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402336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9A047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0F4"/>
                </a:solidFill>
                <a:latin typeface="Calibri"/>
              </a:rPr>
              <a:t>Commission split: </a:t>
            </a:r>
            <a:r>
              <a:rPr sz="1100" b="0" i="0">
                <a:solidFill>
                  <a:srgbClr val="C7CDD8"/>
                </a:solidFill>
                <a:latin typeface="Calibri"/>
              </a:rPr>
              <a:t>50% finder, 50% closer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443484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9A047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0F4"/>
                </a:solidFill>
                <a:latin typeface="Calibri"/>
              </a:rPr>
              <a:t>Sale modes: </a:t>
            </a:r>
            <a:r>
              <a:rPr sz="1100" b="0" i="0">
                <a:solidFill>
                  <a:srgbClr val="C7CDD8"/>
                </a:solidFill>
                <a:latin typeface="Calibri"/>
              </a:rPr>
              <a:t>cash or RTO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13  · 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ENFORCED IN CODE  ·  FEBRUARY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 spc="200">
                <a:solidFill>
                  <a:srgbClr val="C9A047"/>
                </a:solidFill>
                <a:latin typeface="Georgia"/>
              </a:rPr>
              <a:t>— PART III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9144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0" i="0">
                <a:solidFill>
                  <a:srgbClr val="EEF0F4"/>
                </a:solidFill>
                <a:latin typeface="Georgia"/>
              </a:rPr>
              <a:t>The pattern is portable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8C95A8"/>
                </a:solidFill>
                <a:latin typeface="Georgia"/>
              </a:rPr>
              <a:t>The system was built for mobile homes in Texas, but its data model and its workflows describe a broader class of businesses.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EEF0F4"/>
                </a:solidFill>
                <a:latin typeface="Georgia"/>
              </a:rPr>
              <a:t>What is generic, what is Texas-MH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8C95A8"/>
                </a:solidFill>
                <a:latin typeface="Calibri"/>
              </a:rPr>
              <a:t>PORTABILITY ANALYSIS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1">
                <a:solidFill>
                  <a:srgbClr val="C7CDD8"/>
                </a:solidFill>
                <a:latin typeface="Calibri"/>
              </a:rPr>
              <a:t>The core of the system describes a universal pattern: a dealer acquires a high-value physical asset that carries a registrable title, refurbishes it, sells it on its own credit, and collects over time. Any business that fits that pattern can run on Maninos OS with localized configuration.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GENERIC — THE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Acquisition pipeline: detect, qualify, buy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64992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Refurbishment workflow with materials, labor, and costs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12464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Classified photo gallery (vision is asset-agnostic)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59936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RTO/BHPH engine: contract, amortization, late fee, NSF, holdover, delinquency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07408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Customer portal: KYC, e-signature, payment reporting, account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Investor capital with promissory notes and monthly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02352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General Ledger with bank reconciliation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49824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Conversational assistant over the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26974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LOCALIZABLE — THE “ASSET PACK”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301752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9A047"/>
                </a:solidFill>
                <a:latin typeface="Calibri"/>
              </a:rPr>
              <a:t>—  </a:t>
            </a:r>
            <a:r>
              <a:rPr sz="1000" b="1" i="0">
                <a:solidFill>
                  <a:srgbClr val="EEF0F4"/>
                </a:solidFill>
                <a:latin typeface="Calibri"/>
              </a:rPr>
              <a:t>Asset schema: </a:t>
            </a:r>
            <a:r>
              <a:rPr sz="1000" b="0" i="0">
                <a:solidFill>
                  <a:srgbClr val="C7CDD8"/>
                </a:solidFill>
                <a:latin typeface="Calibri"/>
              </a:rPr>
              <a:t>sqft + HUD label for MH; HIN + engine number for boats; VIN + odometer for cars.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3401568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9A047"/>
                </a:solidFill>
                <a:latin typeface="Calibri"/>
              </a:rPr>
              <a:t>—  </a:t>
            </a:r>
            <a:r>
              <a:rPr sz="1000" b="1" i="0">
                <a:solidFill>
                  <a:srgbClr val="EEF0F4"/>
                </a:solidFill>
                <a:latin typeface="Calibri"/>
              </a:rPr>
              <a:t>Acquisition rules: </a:t>
            </a:r>
            <a:r>
              <a:rPr sz="1000" b="0" i="0">
                <a:solidFill>
                  <a:srgbClr val="C7CDD8"/>
                </a:solidFill>
                <a:latin typeface="Calibri"/>
              </a:rPr>
              <a:t>the 60% / $5K-$80K / 200mi belongs to Maninos; another dealer would have its own.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3785616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9A047"/>
                </a:solidFill>
                <a:latin typeface="Calibri"/>
              </a:rPr>
              <a:t>—  </a:t>
            </a:r>
            <a:r>
              <a:rPr sz="1000" b="1" i="0">
                <a:solidFill>
                  <a:srgbClr val="EEF0F4"/>
                </a:solidFill>
                <a:latin typeface="Calibri"/>
              </a:rPr>
              <a:t>Title workflow: </a:t>
            </a:r>
            <a:r>
              <a:rPr sz="1000" b="0" i="0">
                <a:solidFill>
                  <a:srgbClr val="C7CDD8"/>
                </a:solidFill>
                <a:latin typeface="Calibri"/>
              </a:rPr>
              <a:t>TDHCA in Texas, a different agency in each state, USCG optional for large boats.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169664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9A047"/>
                </a:solidFill>
                <a:latin typeface="Calibri"/>
              </a:rPr>
              <a:t>—  </a:t>
            </a:r>
            <a:r>
              <a:rPr sz="1000" b="1" i="0">
                <a:solidFill>
                  <a:srgbClr val="EEF0F4"/>
                </a:solidFill>
                <a:latin typeface="Calibri"/>
              </a:rPr>
              <a:t>Contract template: </a:t>
            </a:r>
            <a:r>
              <a:rPr sz="1000" b="0" i="0">
                <a:solidFill>
                  <a:srgbClr val="C7CDD8"/>
                </a:solidFill>
                <a:latin typeface="Calibri"/>
              </a:rPr>
              <a:t>Lease with Purchase Option for MH; BHPH contract for cars.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4553712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9A047"/>
                </a:solidFill>
                <a:latin typeface="Calibri"/>
              </a:rPr>
              <a:t>—  </a:t>
            </a:r>
            <a:r>
              <a:rPr sz="1000" b="1" i="0">
                <a:solidFill>
                  <a:srgbClr val="EEF0F4"/>
                </a:solidFill>
                <a:latin typeface="Calibri"/>
              </a:rPr>
              <a:t>Scraping sources: </a:t>
            </a:r>
            <a:r>
              <a:rPr sz="1000" b="0" i="0">
                <a:solidFill>
                  <a:srgbClr val="C7CDD8"/>
                </a:solidFill>
                <a:latin typeface="Calibri"/>
              </a:rPr>
              <a:t>MHVillage for MH, Manheim for cars, BoatTrader for boats.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93776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9A047"/>
                </a:solidFill>
                <a:latin typeface="Calibri"/>
              </a:rPr>
              <a:t>—  </a:t>
            </a:r>
            <a:r>
              <a:rPr sz="1000" b="1" i="0">
                <a:solidFill>
                  <a:srgbClr val="EEF0F4"/>
                </a:solidFill>
                <a:latin typeface="Calibri"/>
              </a:rPr>
              <a:t>Agent prompts: </a:t>
            </a:r>
            <a:r>
              <a:rPr sz="1000" b="0" i="0">
                <a:solidFill>
                  <a:srgbClr val="C7CDD8"/>
                </a:solidFill>
                <a:latin typeface="Calibri"/>
              </a:rPr>
              <a:t>the cost agent knows about paint and drywall for houses; gelcoat and bottom paint for boats.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14  ·  PORTABILITY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CORE + ASSET PACK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EEF0F4"/>
                </a:solidFill>
                <a:latin typeface="Georgia"/>
              </a:rPr>
              <a:t>Verticals where the pattern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8C95A8"/>
                </a:solidFill>
                <a:latin typeface="Calibri"/>
              </a:rPr>
              <a:t>QUALITATIVE READ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1">
                <a:solidFill>
                  <a:srgbClr val="8C95A8"/>
                </a:solidFill>
                <a:latin typeface="Calibri"/>
              </a:rPr>
              <a:t>Market sizes are intentionally absent from this document, because the third-party numbers I'd quote haven't been verified. What follows is a qualitative read based on how literally each vertical maps onto the Maninos 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VERTICAL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4231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HOW IT FITS THE CURRENT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242316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WHAT NEEDS TO BE ADAPTED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7889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F0F4"/>
                </a:solidFill>
                <a:latin typeface="Calibri"/>
              </a:rPr>
              <a:t>BHPH used cars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78892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The buy → recondition → finance → collect loop is identical. Past-due portfolio and monthly payment tracking are the most direct analogue.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2788920"/>
            <a:ext cx="3977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State-by-state title workflow via DMV. Starter-interrupt / GPS integrations. Auctions as sourcing channel.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39242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42900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F0F4"/>
                </a:solidFill>
                <a:latin typeface="Calibri"/>
              </a:rPr>
              <a:t>RV / travel trailers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42900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The “Revisar Casa” concept maps almost unchanged onto the PDI (Pre-Delivery Inspection). Buy-recondition-sell cycle is the same.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3429000"/>
            <a:ext cx="3977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Asset schema (motorhome vs towable). PDI inspection template.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403250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406908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F0F4"/>
                </a:solidFill>
                <a:latin typeface="Calibri"/>
              </a:rPr>
              <a:t>Boats (used)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06908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Pre-sale reconditioning is standard (gelcoat, engine, upholstery). Title is state-issued and analogous. In-house financing is the area least served.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4069080"/>
            <a:ext cx="3977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HIN + engine / trailer data in the schema. Seasonality. USCG documentation for vessels &gt; 5 net tons.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467258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470916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F0F4"/>
                </a:solidFill>
                <a:latin typeface="Calibri"/>
              </a:rPr>
              <a:t>Tiny homes / park models / ADU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70916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Almost 1:1 with MH. Same title flow in many states.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4709160"/>
            <a:ext cx="3977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Volume is small; better as a module inside an MH dealer than a standalone vertical.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31266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534924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EEF0F4"/>
                </a:solidFill>
                <a:latin typeface="Calibri"/>
              </a:rPr>
              <a:t>Heavy equipment / tractors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34924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Acquisition and reconditioning fit. In-house financing is rare because manufacturer captives dominate.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5349240"/>
            <a:ext cx="3977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C7CDD8"/>
                </a:solidFill>
                <a:latin typeface="Calibri"/>
              </a:rPr>
              <a:t>UCC-1 instead of title. OEM lock-in makes go-to-market harder.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5952744"/>
            <a:ext cx="11094415" cy="0"/>
          </a:xfrm>
          <a:prstGeom prst="line">
            <a:avLst/>
          </a:prstGeom>
          <a:ln w="6350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15  ·  VERTICALS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QUALITATIVE READ  ·  NO THIRD-PARTY FIGURES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EEF0F4"/>
                </a:solidFill>
                <a:latin typeface="Georgia"/>
              </a:rPr>
              <a:t>Where Maninos OS stands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8C95A8"/>
                </a:solidFill>
                <a:latin typeface="Calibri"/>
              </a:rPr>
              <a:t>VERIFIABLE STATUS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C7CDD8"/>
                </a:solidFill>
                <a:latin typeface="Calibri"/>
              </a:rPr>
              <a:t>What follows is what's in the repository and in production right now, counted against the current code.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194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301752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331720"/>
            <a:ext cx="22188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EEF0F4"/>
                </a:solidFill>
                <a:latin typeface="Georg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22188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PORTALS IN PRODUCTION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67523.0" y="2240280"/>
            <a:ext cx="0.0" cy="777240"/>
          </a:xfrm>
          <a:prstGeom prst="line">
            <a:avLst/>
          </a:prstGeom>
          <a:ln w="9525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13243" y="2331720"/>
            <a:ext cx="22188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EEF0F4"/>
                </a:solidFill>
                <a:latin typeface="Georgia"/>
              </a:rPr>
              <a:t>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3243" y="2788920"/>
            <a:ext cx="22188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FRONTEND PAGES (18+19+16)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86406.0" y="2240280"/>
            <a:ext cx="0.0" cy="777240"/>
          </a:xfrm>
          <a:prstGeom prst="line">
            <a:avLst/>
          </a:prstGeom>
          <a:ln w="9525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32126" y="2331720"/>
            <a:ext cx="22188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EEF0F4"/>
                </a:solidFill>
                <a:latin typeface="Georgia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2126" y="2788920"/>
            <a:ext cx="22188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BACKEND ROUTE FILES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05289.0" y="2240280"/>
            <a:ext cx="0.0" cy="777240"/>
          </a:xfrm>
          <a:prstGeom prst="line">
            <a:avLst/>
          </a:prstGeom>
          <a:ln w="9525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51009" y="2331720"/>
            <a:ext cx="22188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EEF0F4"/>
                </a:solidFill>
                <a:latin typeface="Georgia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009" y="2788920"/>
            <a:ext cx="22188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SPECIALIZED AGENTS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24172.0" y="2240280"/>
            <a:ext cx="0.0" cy="777240"/>
          </a:xfrm>
          <a:prstGeom prst="line">
            <a:avLst/>
          </a:prstGeom>
          <a:ln w="9525">
            <a:solidFill>
              <a:srgbClr val="1F2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469892" y="2331720"/>
            <a:ext cx="22188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EEF0F4"/>
                </a:solidFill>
                <a:latin typeface="Georgia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9892" y="2788920"/>
            <a:ext cx="22188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1" i="0" spc="180">
                <a:solidFill>
                  <a:srgbClr val="8C95A8"/>
                </a:solidFill>
                <a:latin typeface="Calibri"/>
              </a:rPr>
              <a:t>SCHEDULER JOBS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338328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36118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IN 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3192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Daily real-world operations of the Maninos staff in the Homes portal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9768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Active investors reading their reports in Capital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66344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Customers reporting monthly payments from their accounts in Customers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02920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Daily scheduler against TDHCA leaving an audit trail in scheduler_runs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94960"/>
            <a:ext cx="52728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AI agents inside the “Revisar Casa” and renovation-planning 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36118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C9A047"/>
                </a:solidFill>
                <a:latin typeface="Calibri"/>
              </a:rPr>
              <a:t>AREAS THAT STILL CARRY DEBT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0167" y="393192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Multi-tenant: today the system runs as a single instance for Maninos. Tenant separation is missing.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167" y="438912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White-label of brand and domain.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167" y="484632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Stripe is wired as a label in dropdowns but not actually integrated. Real online payments don't exist yet — everything is bank transfer with confirmation.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0167" y="5303520"/>
            <a:ext cx="5272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C7CDD8"/>
                </a:solidFill>
                <a:latin typeface="Calibri"/>
              </a:rPr>
              <a:t>—  Asset Pack as an explicit abstraction: today the MH rules are scattered across the code; lifting them into a pack requires refactoring.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16  ·  TODAY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REAL PRODUCTION  ·  EXPLICIT DEBT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0" i="0">
                <a:solidFill>
                  <a:srgbClr val="EEF0F4"/>
                </a:solidFill>
                <a:latin typeface="Georgia"/>
              </a:rPr>
              <a:t>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50">
                <a:solidFill>
                  <a:srgbClr val="8C95A8"/>
                </a:solidFill>
                <a:latin typeface="Calibri"/>
              </a:rPr>
              <a:t>CLOSING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22960" y="1828800"/>
            <a:ext cx="0" cy="2377440"/>
          </a:xfrm>
          <a:prstGeom prst="line">
            <a:avLst/>
          </a:prstGeom>
          <a:ln w="31750">
            <a:solidFill>
              <a:srgbClr val="C9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1828800"/>
            <a:ext cx="1054577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0" i="1">
                <a:solidFill>
                  <a:srgbClr val="EEF0F4"/>
                </a:solidFill>
                <a:latin typeface="Georgia"/>
              </a:rPr>
              <a:t>“Maninos OS is the operational discipline of a specialized mobile-home dealer in Texas — turned into code. What used to be spreadsheets, WhatsApp, QuickBooks, and unwritten procedure is now a system with six AI agents, its own GL, an in-house financing module, a customer portal, and an audit log.”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452628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7548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C7CDD8"/>
                </a:solidFill>
                <a:latin typeface="Georgia"/>
              </a:rPr>
              <a:t>The natural next step is to separate the engine from Maninos's specific rules, formalize the Asset Pack abstraction, and let other dealers — first mobile homes in other states, then RV or BHPH — run on the same infrastructure.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035040"/>
            <a:ext cx="11094415" cy="0"/>
          </a:xfrm>
          <a:prstGeom prst="line">
            <a:avLst/>
          </a:prstGeom>
          <a:ln w="9525">
            <a:solidFill>
              <a:srgbClr val="2A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EEF0F4"/>
                </a:solidFill>
                <a:latin typeface="Georgia"/>
              </a:rPr>
              <a:t>Maninos 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8C95A8"/>
                </a:solidFill>
                <a:latin typeface="Calibri"/>
              </a:rPr>
              <a:t>Descriptive document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C95A8"/>
                </a:solidFill>
                <a:latin typeface="Calibri"/>
              </a:rPr>
              <a:t>Maninos Homes LLC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C95A8"/>
                </a:solidFill>
                <a:latin typeface="Calibri"/>
              </a:rPr>
              <a:t>Maninos Capital LLC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17  ·  CLOSING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00" b="1" i="0" spc="200">
                <a:solidFill>
                  <a:srgbClr val="5A6478"/>
                </a:solidFill>
                <a:latin typeface="Calibri"/>
              </a:rPr>
              <a:t>END OF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